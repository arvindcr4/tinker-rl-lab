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PROJECT OVERVIEW  •  EXPERIMENTS  •  DATASETS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Tool Call Fine-Tuning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Qwen 2.5  •  QLoRA  •  SFT  •  GRPO  •  glaive-function-calling-v2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859536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Goal: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Train a small LLM to output structured JSON tool calls instead of plain text answers.  </a:t>
            </a:r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{"name": "get_weather", "arguments": {"location": "Paris"}}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4160520" cy="2907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19072"/>
            <a:ext cx="416052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190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EXPERIMENT 1 — Synthetic SFT  (Qwen 2.5-0.5B)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29968"/>
            <a:ext cx="416052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29968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B5CF6"/>
                </a:solidFill>
              </a:rPr>
              <a:t>Model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067458" y="2029968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Qwen/Qwen2.5-0.5B-Instruct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74320" y="2313432"/>
            <a:ext cx="4160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13432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B5CF6"/>
                </a:solidFill>
              </a:rPr>
              <a:t>Method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067458" y="2313432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QLoRA SFT only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74320" y="2596896"/>
            <a:ext cx="416052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96896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B5CF6"/>
                </a:solidFill>
              </a:rPr>
              <a:t>Dataset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2067458" y="2596896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14 hand-crafted synthetic examples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4160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80360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B5CF6"/>
                </a:solidFill>
              </a:rPr>
              <a:t>Tools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067458" y="2880360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get_weather, search_web, calculator, get_stock_price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74320" y="3163824"/>
            <a:ext cx="416052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63824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B5CF6"/>
                </a:solidFill>
              </a:rPr>
              <a:t>LoRA rank / alpha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2067458" y="3163824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16 / 32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74320" y="3447288"/>
            <a:ext cx="4160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447288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B5CF6"/>
                </a:solidFill>
              </a:rPr>
              <a:t>Batch / Epochs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2067458" y="3447288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2 / 3  —  ~11 train, 3 eval samples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74320" y="3730752"/>
            <a:ext cx="416052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30752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B5CF6"/>
                </a:solidFill>
              </a:rPr>
              <a:t>Seq length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067458" y="3730752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1024 tokens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274320" y="4014216"/>
            <a:ext cx="4160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14216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B5CF6"/>
                </a:solidFill>
              </a:rPr>
              <a:t>Platform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2067458" y="4014216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Google Colab T4 (16GB)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274320" y="4297680"/>
            <a:ext cx="416052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97680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B5CF6"/>
                </a:solidFill>
              </a:rPr>
              <a:t>Optimizer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2067458" y="4297680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paged_adamw_8bit,  LR 2e-4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709160" y="1719072"/>
            <a:ext cx="4160520" cy="2907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1719072"/>
            <a:ext cx="41605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190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EXPERIMENT 2 — Glaive SFT + GRPO  (Qwen 2.5-1.5B)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2029968"/>
            <a:ext cx="416052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029968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Model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6502298" y="2029968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Qwen/Qwen2.5-1.5B-Instruct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4709160" y="2313432"/>
            <a:ext cx="4160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313432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Method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6502298" y="2313432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QLoRA SFT  →  GRPO Reinforcement Learning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4709160" y="2596896"/>
            <a:ext cx="416052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2596896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Dataset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6502298" y="2596896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glaive-function-calling-v2  (112,960 examples)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4709160" y="2880360"/>
            <a:ext cx="4160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2880360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Samples used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6502298" y="2880360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500 SFT  +  200 GRPO prompts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4709160" y="3163824"/>
            <a:ext cx="416052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3163824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LoRA rank / alpha</a:t>
            </a:r>
            <a:endParaRPr lang="en-US" sz="880" dirty="0"/>
          </a:p>
        </p:txBody>
      </p:sp>
      <p:sp>
        <p:nvSpPr>
          <p:cNvPr id="56" name="Text 54"/>
          <p:cNvSpPr/>
          <p:nvPr/>
        </p:nvSpPr>
        <p:spPr>
          <a:xfrm>
            <a:off x="6502298" y="3163824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16 / 32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4709160" y="3447288"/>
            <a:ext cx="4160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447288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Batch / Epochs</a:t>
            </a:r>
            <a:endParaRPr lang="en-US" sz="880" dirty="0"/>
          </a:p>
        </p:txBody>
      </p:sp>
      <p:sp>
        <p:nvSpPr>
          <p:cNvPr id="59" name="Text 57"/>
          <p:cNvSpPr/>
          <p:nvPr/>
        </p:nvSpPr>
        <p:spPr>
          <a:xfrm>
            <a:off x="6502298" y="3447288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1 / 2  —  450 train, 50 eval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4709160" y="3730752"/>
            <a:ext cx="416052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3730752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Seq length</a:t>
            </a:r>
            <a:endParaRPr lang="en-US" sz="880" dirty="0"/>
          </a:p>
        </p:txBody>
      </p:sp>
      <p:sp>
        <p:nvSpPr>
          <p:cNvPr id="62" name="Text 60"/>
          <p:cNvSpPr/>
          <p:nvPr/>
        </p:nvSpPr>
        <p:spPr>
          <a:xfrm>
            <a:off x="6502298" y="3730752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512 tokens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4709160" y="4014216"/>
            <a:ext cx="4160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00600" y="4014216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Platform</a:t>
            </a:r>
            <a:endParaRPr lang="en-US" sz="880" dirty="0"/>
          </a:p>
        </p:txBody>
      </p:sp>
      <p:sp>
        <p:nvSpPr>
          <p:cNvPr id="65" name="Text 63"/>
          <p:cNvSpPr/>
          <p:nvPr/>
        </p:nvSpPr>
        <p:spPr>
          <a:xfrm>
            <a:off x="6502298" y="4014216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Google Colab T4 (16GB)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4709160" y="4297680"/>
            <a:ext cx="416052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00600" y="4297680"/>
            <a:ext cx="17474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Optimizer</a:t>
            </a:r>
            <a:endParaRPr lang="en-US" sz="880" dirty="0"/>
          </a:p>
        </p:txBody>
      </p:sp>
      <p:sp>
        <p:nvSpPr>
          <p:cNvPr id="68" name="Text 66"/>
          <p:cNvSpPr/>
          <p:nvPr/>
        </p:nvSpPr>
        <p:spPr>
          <a:xfrm>
            <a:off x="6502298" y="4297680"/>
            <a:ext cx="228828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paged_adamw_8bit,  LR 2e-4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274320" y="4681728"/>
            <a:ext cx="8595360" cy="3566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4681728"/>
            <a:ext cx="8412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glaive-function-calling-v2: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Real multi-turn conversations. Each row has a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field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(tool schema JSON) +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chat field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(USER / ASSISTANT / FUNCTION RESPONSE turns).  Token budget: 1 token ≈ 0.75 words.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MODEL DETAILS  •  QLORA CONFIGURATION  •  TRAINING PIPELINE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&amp; QLoRA Setup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50976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50976"/>
            <a:ext cx="2743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509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Qwen 2.5 Model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243584"/>
            <a:ext cx="274320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43584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Exp 1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472184" y="1243584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Qwen2.5-0.5B-Instruct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74320" y="1527048"/>
            <a:ext cx="27432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27048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Exp 2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472184" y="1527048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Qwen2.5-1.5B-Instruct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74320" y="1810512"/>
            <a:ext cx="274320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10512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Architecture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472184" y="1810512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Transformer Causal LM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74320" y="2093976"/>
            <a:ext cx="27432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093976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Native context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1472184" y="2093976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32,768 tokens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74320" y="2377440"/>
            <a:ext cx="274320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377440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Training ctx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472184" y="2377440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512–1024 tokens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74320" y="2660904"/>
            <a:ext cx="27432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660904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Quantization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1472184" y="2660904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4-bit NF4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74320" y="2944368"/>
            <a:ext cx="274320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944368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Compute dtype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472184" y="2944368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bfloat16  (NOT float16)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74320" y="3227832"/>
            <a:ext cx="27432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27832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Double quant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1472184" y="3227832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Enabled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274320" y="3511296"/>
            <a:ext cx="274320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511296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3A5F"/>
                </a:solidFill>
              </a:rPr>
              <a:t>device_map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1472184" y="3511296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auto  (GPU → CPU)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3246120" y="950976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46120" y="950976"/>
            <a:ext cx="27432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9509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QLoRA Config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46120" y="1243584"/>
            <a:ext cx="274320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1243584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LoRA rank (r)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4443984" y="1243584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16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3246120" y="1527048"/>
            <a:ext cx="27432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1527048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LoRA alpha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4443984" y="1527048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32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3246120" y="1810512"/>
            <a:ext cx="274320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1810512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Dropout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4443984" y="1810512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0.05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3246120" y="2093976"/>
            <a:ext cx="27432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37560" y="2093976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Bias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4443984" y="2093976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none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3246120" y="2377440"/>
            <a:ext cx="274320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37560" y="2377440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Task type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4443984" y="2377440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CAUSAL_LM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3246120" y="2660904"/>
            <a:ext cx="27432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660904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Target: attn</a:t>
            </a:r>
            <a:endParaRPr lang="en-US" sz="880" dirty="0"/>
          </a:p>
        </p:txBody>
      </p:sp>
      <p:sp>
        <p:nvSpPr>
          <p:cNvPr id="56" name="Text 54"/>
          <p:cNvSpPr/>
          <p:nvPr/>
        </p:nvSpPr>
        <p:spPr>
          <a:xfrm>
            <a:off x="4443984" y="2660904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q_proj, k_proj, v_proj, o_proj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3246120" y="2944368"/>
            <a:ext cx="274320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37560" y="2944368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Target: mlp</a:t>
            </a:r>
            <a:endParaRPr lang="en-US" sz="880" dirty="0"/>
          </a:p>
        </p:txBody>
      </p:sp>
      <p:sp>
        <p:nvSpPr>
          <p:cNvPr id="59" name="Text 57"/>
          <p:cNvSpPr/>
          <p:nvPr/>
        </p:nvSpPr>
        <p:spPr>
          <a:xfrm>
            <a:off x="4443984" y="2944368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gate_proj, up_proj, down_proj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3246120" y="3227832"/>
            <a:ext cx="27432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37560" y="3227832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Trainable params</a:t>
            </a:r>
            <a:endParaRPr lang="en-US" sz="880" dirty="0"/>
          </a:p>
        </p:txBody>
      </p:sp>
      <p:sp>
        <p:nvSpPr>
          <p:cNvPr id="62" name="Text 60"/>
          <p:cNvSpPr/>
          <p:nvPr/>
        </p:nvSpPr>
        <p:spPr>
          <a:xfrm>
            <a:off x="4443984" y="3227832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~1% of total (saves VRAM)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3246120" y="3511296"/>
            <a:ext cx="274320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37560" y="3511296"/>
            <a:ext cx="1152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VRAM saving</a:t>
            </a:r>
            <a:endParaRPr lang="en-US" sz="880" dirty="0"/>
          </a:p>
        </p:txBody>
      </p:sp>
      <p:sp>
        <p:nvSpPr>
          <p:cNvPr id="65" name="Text 63"/>
          <p:cNvSpPr/>
          <p:nvPr/>
        </p:nvSpPr>
        <p:spPr>
          <a:xfrm>
            <a:off x="4443984" y="3511296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12 GB → 5 GB  (T4 viable)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6217920" y="950976"/>
            <a:ext cx="26517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217920" y="950976"/>
            <a:ext cx="265176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9509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SFT Training Pipeline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263640" y="1371600"/>
            <a:ext cx="347472" cy="3474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6364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675120" y="12984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Load Dataset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675120" y="1536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glaive / synthetic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examples from HuggingFace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37376" y="1755648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63640" y="2048256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63640" y="2048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675120" y="19751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Parse &amp; Format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675120" y="22128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Extract tool schema,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USER/ASSISTANT turns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437376" y="2432304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63640" y="272491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6364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675120" y="26517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Chat Template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6675120" y="28895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Qwen &lt;|im_start|&gt; tokens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applied per example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37376" y="3108960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263640" y="3401568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6364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675120" y="33284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</a:rPr>
              <a:t>SFTTrainer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6675120" y="35661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QLoRA adapts ~1%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of model weights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437376" y="3785616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263640" y="407822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63640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675120" y="4005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Save Adapter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6675120" y="42428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adapter_config.json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adapter_model.safetensors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E293B"/>
                </a:solidFill>
              </a:rPr>
              <a:t>⚠  Always use bfloat16 (not float16) — mixing causes CUDA NaN errors.  Always use absolute /content/... paths in Colab — relative paths silently fail to save.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TRAINING METHODS  •  SFT vs GRPO  •  REWARD FUNCTIONS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SFT and GRPO Work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50976"/>
            <a:ext cx="416052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50976"/>
            <a:ext cx="416052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5097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SFT — Supervised Fine-Tuning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298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Model learns by copying correct examples — like a student copying notes.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645920"/>
            <a:ext cx="3931920" cy="301752"/>
          </a:xfrm>
          <a:prstGeom prst="rect">
            <a:avLst/>
          </a:prstGeom>
          <a:solidFill>
            <a:srgbClr val="F1F5F9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4592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1  Dataset example (input + correct output)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1965960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1993392"/>
            <a:ext cx="393192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99339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2  Model predicts next token at each position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313432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340864"/>
            <a:ext cx="3931920" cy="301752"/>
          </a:xfrm>
          <a:prstGeom prst="rect">
            <a:avLst/>
          </a:prstGeom>
          <a:solidFill>
            <a:srgbClr val="F1F5F9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34086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3  Cross-entropy loss vs correct answer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2660904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2688336"/>
            <a:ext cx="393192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68833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4  Backprop updates LoRA adapter weights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3127248"/>
            <a:ext cx="3931920" cy="15727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1821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Training example format: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429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&lt;|im_start|&gt;system   You are a helpful assistant with tools...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5488" y="36758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&lt;|im_start|&gt;user   What's the stock price of Apple?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" y="39227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</a:rPr>
              <a:t>&lt;|im_start|&gt;assistant   {"name":"get_stock_price","arguments":{"ticker":"AAPL"}}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5488" y="41696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5CF6"/>
                </a:solidFill>
              </a:rPr>
              <a:t>&lt;|im_start|&gt;tool   {"ticker":"AAPL","price":189.45,"currency":"USD"}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5488" y="44165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</a:rPr>
              <a:t>&lt;|im_start|&gt;assistant   Apple (AAPL) is trading at $189.45 USD.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09160" y="950976"/>
            <a:ext cx="416052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950976"/>
            <a:ext cx="41605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95097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GRPO — Group Relative Policy Optimisation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18888" y="1298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Model improves by trial and error — generates 4 attempts, ranks them, learns from differences.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18888" y="1645920"/>
            <a:ext cx="3931920" cy="256032"/>
          </a:xfrm>
          <a:prstGeom prst="rect">
            <a:avLst/>
          </a:prstGeom>
          <a:solidFill>
            <a:srgbClr val="CCFBF1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1645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1  Prompt only — no answer given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18888" y="1947672"/>
            <a:ext cx="393192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1947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2  Generate 4 candidate responses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18888" y="2249424"/>
            <a:ext cx="3931920" cy="256032"/>
          </a:xfrm>
          <a:prstGeom prst="rect">
            <a:avLst/>
          </a:prstGeom>
          <a:solidFill>
            <a:srgbClr val="CCFBF1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3  Score each with 5 reward functions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18888" y="2551176"/>
            <a:ext cx="393192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25511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4  Subtract mean  →  relative reward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18888" y="2852928"/>
            <a:ext cx="3931920" cy="256032"/>
          </a:xfrm>
          <a:prstGeom prst="rect">
            <a:avLst/>
          </a:prstGeom>
          <a:solidFill>
            <a:srgbClr val="CCFBF1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0328" y="2852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5  Reinforce above-avg, penalise below-avg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18888" y="3127248"/>
            <a:ext cx="393192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31272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 Reward Functions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18888" y="3364992"/>
            <a:ext cx="39319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33649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+1.0 / -1.0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32120" y="33649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3A5F"/>
                </a:solidFill>
              </a:rPr>
              <a:t>reward_json_valid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6949440" y="336499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Can the output be parsed as JSON?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818888" y="3639312"/>
            <a:ext cx="3931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36393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+1.0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532120" y="36393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3A5F"/>
                </a:solidFill>
              </a:rPr>
              <a:t>reward_has_name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6949440" y="363931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Does it include a tool name field?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4818888" y="3913632"/>
            <a:ext cx="39319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39136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+1.0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532120" y="39136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3A5F"/>
                </a:solidFill>
              </a:rPr>
              <a:t>reward_has_arguments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6949440" y="391363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Does it include an arguments dict?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4818888" y="4187952"/>
            <a:ext cx="3931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4608" y="41879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+1.0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532120" y="41879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3A5F"/>
                </a:solidFill>
              </a:rPr>
              <a:t>reward_clean_output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6949440" y="418795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 extra text outside the JSON?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4818888" y="4462272"/>
            <a:ext cx="39319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64608" y="44622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0–1.0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532120" y="44622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3A5F"/>
                </a:solidFill>
              </a:rPr>
              <a:t>reward_combined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6949440" y="446227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Weighted quality — main signal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SFT vs GRPO: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828800" y="4773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BD5E1"/>
                </a:solidFill>
              </a:rPr>
              <a:t>Needs: </a:t>
            </a:r>
            <a:endParaRPr lang="en-US" sz="780" dirty="0"/>
          </a:p>
        </p:txBody>
      </p:sp>
      <p:sp>
        <p:nvSpPr>
          <p:cNvPr id="67" name="Text 65"/>
          <p:cNvSpPr/>
          <p:nvPr/>
        </p:nvSpPr>
        <p:spPr>
          <a:xfrm>
            <a:off x="246888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Labeled answers / Prompts only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639312" y="4773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BD5E1"/>
                </a:solidFill>
              </a:rPr>
              <a:t>Learns by: 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4279392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Copying examples / Trial &amp; error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449824" y="4773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BD5E1"/>
                </a:solidFill>
              </a:rPr>
              <a:t>Good at: 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6089904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Learning format / Improving quality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260336" y="4773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BD5E1"/>
                </a:solidFill>
              </a:rPr>
              <a:t>Weakness: </a:t>
            </a:r>
            <a:endParaRPr lang="en-US" sz="780" dirty="0"/>
          </a:p>
        </p:txBody>
      </p:sp>
      <p:sp>
        <p:nvSpPr>
          <p:cNvPr id="73" name="Text 71"/>
          <p:cNvSpPr/>
          <p:nvPr/>
        </p:nvSpPr>
        <p:spPr>
          <a:xfrm>
            <a:off x="7900416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May memorise / Needs good rewards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EVALUATION STRATEGY  •  ACCURACY RESULTS  •  REAL OUTPUT EXAMPLES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50976"/>
            <a:ext cx="256032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50976"/>
            <a:ext cx="256032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509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 1 Results — 10 Queries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280160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5 in-distribution  +  5 out-of-distribution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499616"/>
            <a:ext cx="25603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996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JSON Valid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14996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30%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02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Correct Tool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37360" y="19202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20%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2340864"/>
            <a:ext cx="25603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408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Correct Args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37360" y="23408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10%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2761488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614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Full Match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37360" y="276148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0%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4320" y="3182112"/>
            <a:ext cx="25603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821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In-distribution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37360" y="3182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0 / 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4320" y="3602736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027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Out-of-dist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37360" y="360273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0 / 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74320" y="4041648"/>
            <a:ext cx="2560320" cy="640080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041648"/>
            <a:ext cx="2414016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Issue: 14 examples too few. Model hallucinated tool names &amp; argument keys.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063240" y="950976"/>
            <a:ext cx="283464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063240" y="950976"/>
            <a:ext cx="28346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3240" y="9509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 2 Results — 12 Queries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36392" y="1280160"/>
            <a:ext cx="2670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weather, calc, search, stocks, translate, units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063240" y="1499616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149961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JSON Valid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51960" y="14996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0% → 92%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063240" y="1920240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54680" y="19202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Correct Tool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51960" y="19202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0% → 50%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063240" y="234086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54680" y="234086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Has Args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51960" y="23408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0% → 42%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063240" y="2761488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54680" y="27614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Clean Output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51960" y="27614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0% → 92%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063240" y="3182112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54680" y="31821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Avg Score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251960" y="31821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0.0 → 0.59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063240" y="3602736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54680" y="360273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Winner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51960" y="36027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GRPO ✅  all metrics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063240" y="4041648"/>
            <a:ext cx="2834640" cy="640080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36392" y="4041648"/>
            <a:ext cx="2688336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SFT answered in plain text — never called tools. GRPO always output JSON tool calls.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080760" y="950976"/>
            <a:ext cx="278892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080760" y="950976"/>
            <a:ext cx="278892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80760" y="95097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Real Output Comparison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080760" y="1298448"/>
            <a:ext cx="27889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44768" y="12984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Q: Stock price of Apple?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080760" y="1499616"/>
            <a:ext cx="2788920" cy="384048"/>
          </a:xfrm>
          <a:prstGeom prst="rect">
            <a:avLst/>
          </a:prstGeom>
          <a:solidFill>
            <a:srgbClr val="FEF2F2"/>
          </a:solidFill>
          <a:ln w="5080">
            <a:solidFill>
              <a:srgbClr val="EF44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44768" y="1499616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SFT: </a:t>
            </a:r>
            <a:pPr indent="0" marL="0">
              <a:buNone/>
            </a:pPr>
            <a:r>
              <a:rPr lang="en-US" sz="750" i="1" dirty="0">
                <a:solidFill>
                  <a:srgbClr val="1E293B"/>
                </a:solidFill>
              </a:rPr>
              <a:t>I'm sorry, as an AI I don't have real-time data......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080760" y="1892808"/>
            <a:ext cx="2788920" cy="475488"/>
          </a:xfrm>
          <a:prstGeom prst="rect">
            <a:avLst/>
          </a:prstGeom>
          <a:solidFill>
            <a:srgbClr val="CCFBF1"/>
          </a:solidFill>
          <a:ln w="508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44768" y="1892808"/>
            <a:ext cx="26517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GRPO[1.00]: </a:t>
            </a:r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{"name":"get_stock_price","arguments":{"symbol":"AAPL"}}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080760" y="2432304"/>
            <a:ext cx="27889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44768" y="24323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Q: Latest news on AI?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080760" y="2633472"/>
            <a:ext cx="2788920" cy="384048"/>
          </a:xfrm>
          <a:prstGeom prst="rect">
            <a:avLst/>
          </a:prstGeom>
          <a:solidFill>
            <a:srgbClr val="FEF2F2"/>
          </a:solidFill>
          <a:ln w="5080">
            <a:solidFill>
              <a:srgbClr val="EF44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44768" y="2633472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SFT: </a:t>
            </a:r>
            <a:pPr indent="0" marL="0">
              <a:buNone/>
            </a:pPr>
            <a:r>
              <a:rPr lang="en-US" sz="750" i="1" dirty="0">
                <a:solidFill>
                  <a:srgbClr val="1E293B"/>
                </a:solidFill>
              </a:rPr>
              <a:t>I'm sorry, I can't perform web searches......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080760" y="3026664"/>
            <a:ext cx="2788920" cy="475488"/>
          </a:xfrm>
          <a:prstGeom prst="rect">
            <a:avLst/>
          </a:prstGeom>
          <a:solidFill>
            <a:srgbClr val="CCFBF1"/>
          </a:solidFill>
          <a:ln w="5080">
            <a:solidFill>
              <a:srgbClr val="0D948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44768" y="3026664"/>
            <a:ext cx="26517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GRPO[1.00]: </a:t>
            </a:r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{"name":"news_search","arguments":{"query":"latest AI news"}}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080760" y="3566160"/>
            <a:ext cx="27889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44768" y="3566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Q: Weather in Tokyo?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080760" y="3767328"/>
            <a:ext cx="2788920" cy="384048"/>
          </a:xfrm>
          <a:prstGeom prst="rect">
            <a:avLst/>
          </a:prstGeom>
          <a:solidFill>
            <a:srgbClr val="FEF2F2"/>
          </a:solidFill>
          <a:ln w="5080">
            <a:solidFill>
              <a:srgbClr val="EF444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44768" y="3767328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SFT: </a:t>
            </a:r>
            <a:pPr indent="0" marL="0">
              <a:buNone/>
            </a:pPr>
            <a:r>
              <a:rPr lang="en-US" sz="750" i="1" dirty="0">
                <a:solidFill>
                  <a:srgbClr val="1E293B"/>
                </a:solidFill>
              </a:rPr>
              <a:t>I'm sorry, I don't have real-time data......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080760" y="4160520"/>
            <a:ext cx="2788920" cy="475488"/>
          </a:xfrm>
          <a:prstGeom prst="rect">
            <a:avLst/>
          </a:prstGeom>
          <a:solidFill>
            <a:srgbClr val="CCFBF1"/>
          </a:solidFill>
          <a:ln w="5080">
            <a:solidFill>
              <a:srgbClr val="0D948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44768" y="4160520"/>
            <a:ext cx="26517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GRPO[0.30]: </a:t>
            </a:r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{"name":"weather_report","arguments":{"city":"Tokyo"}}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Scoring:  JSON Valid → 1.0 pt  |  Correct Tool → 0.4 pt  |  Correct Arguments → 0.6 pt  |  Full Match = tool + args both exact  |  Avg score = weighted quality 0–1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KEY LEARNINGS  •  TECH STACK  •  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Learnings, Stack &amp; What's Next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50976"/>
            <a:ext cx="53949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50976"/>
            <a:ext cx="53949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5097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Key Learnings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1316736"/>
            <a:ext cx="146304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167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Data Volume is the Biggest Lever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5544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14 examples → can't generalise. 500 real examples → structured output every time. Quality + quantity matters most.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44952" y="1316736"/>
            <a:ext cx="14630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3167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GRPO Fixes What SFT Misses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46120" y="15544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Without seeing correct answers, GRPO rewarded structure. JSON Valid jumped 0% → 92%. RL teaches when to call tools.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2084832"/>
            <a:ext cx="146304" cy="6766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0848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QLoRA is Essential on Free GPU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3225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4-bit NF4 reduces VRAM 12GB → 5GB. Without it, 1.5B can't train on T4. bfloat16 mandatory — float16 causes NaN.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044952" y="2084832"/>
            <a:ext cx="146304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0848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Bigger Model + Real Data = Better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46120" y="23225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Qwen 1.5B on 500 real examples &gt;&gt; Qwen 0.5B on 14 synthetic. Both model size and dataset quality compound.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97880" y="950976"/>
            <a:ext cx="29718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97880" y="950976"/>
            <a:ext cx="2971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95097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Technology Stack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97880" y="1243584"/>
            <a:ext cx="297180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1243584"/>
            <a:ext cx="12481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Models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7191756" y="1243584"/>
            <a:ext cx="163449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Qwen2.5-0.5B + 1.5B-Instruct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897880" y="1527048"/>
            <a:ext cx="2971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527048"/>
            <a:ext cx="12481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Fine-tuning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191756" y="1527048"/>
            <a:ext cx="163449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PEFT  (LoraConfig, PeftModel)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897880" y="1810512"/>
            <a:ext cx="297180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1810512"/>
            <a:ext cx="12481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Training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7191756" y="1810512"/>
            <a:ext cx="163449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TRL ≥0.16  (SFTConfig, GRPOConfig)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897880" y="2093976"/>
            <a:ext cx="2971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2093976"/>
            <a:ext cx="12481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Quantization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7191756" y="2093976"/>
            <a:ext cx="163449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bitsandbytes  (4-bit NF4)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5897880" y="2377440"/>
            <a:ext cx="297180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2377440"/>
            <a:ext cx="12481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Data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7191756" y="2377440"/>
            <a:ext cx="163449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HuggingFace datasets library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897880" y="2660904"/>
            <a:ext cx="2971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2660904"/>
            <a:ext cx="12481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Dataset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7191756" y="2660904"/>
            <a:ext cx="163449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glaiveai/glaive-function-calling-v2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5897880" y="2944368"/>
            <a:ext cx="297180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2944368"/>
            <a:ext cx="12481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Inference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7191756" y="2944368"/>
            <a:ext cx="163449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transformers AutoModelForCausalLM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897880" y="3227832"/>
            <a:ext cx="2971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89320" y="3227832"/>
            <a:ext cx="12481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Platform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7191756" y="3227832"/>
            <a:ext cx="163449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Google Colab T4  (16GB VRAM)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5897880" y="3511296"/>
            <a:ext cx="2971800" cy="28346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89320" y="3511296"/>
            <a:ext cx="12481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</a:rPr>
              <a:t>Models live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7191756" y="3511296"/>
            <a:ext cx="163449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huggingface.co/Balasandhya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274320" y="3858768"/>
            <a:ext cx="8595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74320" y="3858768"/>
            <a:ext cx="85953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8587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What's Next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47472" y="4206240"/>
            <a:ext cx="2761488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7472" y="4206240"/>
            <a:ext cx="276148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420624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🟢 Now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38912" y="44256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HuggingFace Spaces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38912" y="4626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Gradio demo — type query, see live tool call JSON output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27832" y="4206240"/>
            <a:ext cx="2761488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27832" y="4206240"/>
            <a:ext cx="276148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27832" y="420624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🟡 Soon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19272" y="44256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Real Tool Execution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319272" y="4626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JSON output → actual API call → real result → final answer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08192" y="4206240"/>
            <a:ext cx="2761488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08192" y="4206240"/>
            <a:ext cx="276148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08192" y="420624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🟡 Soon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99632" y="44256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Exp 3: Multi-Turn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199632" y="4626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Qwen 3B + ToolBench + true GRPO rollout chains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github.com/sandhyajeyaraj  •  huggingface.co/Balasandhya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Tool Call Fine-Tuning</dc:title>
  <dc:subject>PptxGenJS Presentation</dc:subject>
  <dc:creator>PptxGenJS</dc:creator>
  <cp:lastModifiedBy>PptxGenJS</cp:lastModifiedBy>
  <cp:revision>1</cp:revision>
  <dcterms:created xsi:type="dcterms:W3CDTF">2026-03-14T08:09:43Z</dcterms:created>
  <dcterms:modified xsi:type="dcterms:W3CDTF">2026-03-14T08:09:43Z</dcterms:modified>
</cp:coreProperties>
</file>