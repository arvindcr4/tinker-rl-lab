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(optional 90 s) Recorded live demo: HuggingFace adapter repos + W&amp;B zvf-training panel walkthrough, captured 12 Jul. Click to play. Use while people settle, or skip straight to the title if he wants to start immediately - the live demo slot is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Sell it with the basketball analogy at the bottom: drills, shots, a coach who only compares shots within a drill; all-makes drills teach nothing precisely when the scoreboard looks perfect - that is the whole thesis in one image. Secondary anchor: Dr.GRPO (Liu et al., 2025) which critiques GRPO's normalisation terms — Result 4 tests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table walk — lead with the WHY column: each method answers a specific question the thesis needed closed. PPO answers 'was the critic needed?'; GSPO isolates one knob on the same stack; Dr.GRPO tests the base paper's strongest critique; DPO is the no-rollouts counterfactual (no groups, so no ZVF by construction); REINFORCE and SFT are floors; the DAPO audit and the AERO/AREAL/GIFT traces exist to measure how much a method LABEL underdetermines what actually ran. Every row has runnable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 Datasets first if he asks what you trained ON: GSM8K train split with binary boxed-answer rewards is the finetuning task; synthetic arithmetic for the small panels; xLAM-60k was the capstone SFT corpus. MATH-500/MBPP/HumanEval are evaluation-only - never trained on. Sem-3 credit line if asked: 79 logged runs across 7 libraries, submitted to NeurIPS 2026 Main Track as 'A Unified Benchmark for RL Post-Training of Language Models' (group work, 8 authors); Sem 4 is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6-12%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package" Target="../embeddings/Microsoft_Excel_Sheet1.xlsx"/><Relationship Id="rId4" Type="http://schemas.openxmlformats.org/officeDocument/2006/relationships/image" Target="../media/image4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5.png"/><Relationship Id="rId6" Type="http://schemas.openxmlformats.org/officeDocument/2006/relationships/hyperlink" Target="https://wandb.ai/arvindcr4-pes-university/zvf-training/runs/pob7nd05" TargetMode="External"/><Relationship Id="rId7" Type="http://schemas.openxmlformats.org/officeDocument/2006/relationships/hyperlink" Target="https://wandb.ai/arvindcr4-pes-university/zvf-training/runs/tiicy3km" TargetMode="External"/><Relationship Id="rId8" Type="http://schemas.openxmlformats.org/officeDocument/2006/relationships/hyperlink" Target="https://wandb.ai/arvindcr4-pes-university/zvf-training/runs/kmqjbhwn" TargetMode="External"/><Relationship Id="rId9" Type="http://schemas.openxmlformats.org/officeDocument/2006/relationships/hyperlink" Target="https://wandb.ai/arvindcr4-pes-university/zvf-training" TargetMode="External"/><Relationship Id="rId10" Type="http://schemas.openxmlformats.org/officeDocument/2006/relationships/hyperlink" Target="https://huggingface.co/arvindcr4/tinker-rl-bench-ppo_gsm8k_Qwen3-8B_s42" TargetMode="External"/><Relationship Id="rId11" Type="http://schemas.openxmlformats.org/officeDocument/2006/relationships/hyperlink" Target="https://github.com/arvindcr4/tinker-rl-la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arvindcr4/tinker-rl-lab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Opening demo — live HuggingFace + W&amp;B walkthrough (recorded today, 91 s)</a:t>
            </a:r>
          </a:p>
        </p:txBody>
      </p:sp>
      <p:pic>
        <p:nvPicPr>
          <p:cNvPr id="3" name="project_defense_live_hf_wandb_demo_2026-07-1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35608" y="868680"/>
            <a:ext cx="9326880" cy="5248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Click to play — embedded in the deck; no network needed.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family. The study runs GRPO against PPO, REINFORCE, DPO, GSPO, Dr.GRPO and audited variant labels (slide 5).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05156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one prompt → G=4 completions, reward r ∈ {0,1}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48132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group with contrast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5048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51976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18904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95560" y="2057400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744200" y="1783080"/>
            <a:ext cx="1051560" cy="566928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±0.5
gradient flows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0604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all-correct group (the blind spot)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18904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95560" y="3172968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744200" y="2898648"/>
            <a:ext cx="1051560" cy="566928"/>
          </a:xfrm>
          <a:prstGeom prst="roundRect">
            <a:avLst/>
          </a:prstGeom>
          <a:solidFill>
            <a:srgbClr val="B32D2D"/>
          </a:solidFill>
          <a:ln>
            <a:solidFill>
              <a:srgbClr val="B3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0,0,0,0
zero gradient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57600"/>
            <a:ext cx="3977639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A_i = r_i − mean(r): identical rewards zero every advantage.
The reward curve still reads 1.0 — training has silently stopped.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920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8A6D00"/>
                </a:solidFill>
                <a:latin typeface="Calibri"/>
              </a:rPr>
              <a:t>Basketball analogy: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Each prompt is a shooting drill; the G completions are G shots at the same basket. GRPO has no absolute standard (no critic) — the coach grades each shot only against the others in that drill. Mixed makes and misses → he can tell what worked. All makes or all misses → nothing to compare, the drill taught zero. As the player improves, more drills end all-makes: practice silently stops teaching exactly when the scoreboard looks best. ZVF counts the dead drills; more shots per drill (bigger G) keeps the contrast alive longer.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Published results are stack-conditioned: same label, different stacks, different outcomes (measured: a 17× final-reward span from an undisclosed backend+checkpoint swap).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TRAINING — Tinker managed API
LoRA rank-4 GRPO / Dr.GRPO fleets · full-state checkpoint · kill-and-resume (verified live)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50008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TELEMETRY — per-step (reward, ZVF, GU)
logged beside every reward point · parser v2 with false-positive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65576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EVALUATION — vLLM pass@k harness
Modal · Lightning AI · Colab — three independent backends · clustered bootstrap CIs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81144"/>
            <a:ext cx="5852160" cy="1042416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AUDIT TRAIL — 983 Tinker runs + external Modal / Lightning AI / Colab runs
(26 pass@k evals · 4 H100 cross-library baselines · Colab experiment packs)
19 claim-critical runs linked: W&amp;B page + checkpoint + result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40" y="2167128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49040" y="3282696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49040" y="4398264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1737360"/>
            <a:ext cx="4206240" cy="114300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zvf-triage (Apache-2.0, 82 tests)
regime classifier · adaptive-G · dead-prompt drop · auto-stop
veRL / OpenRLHF / NeMo-RL adapters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383280"/>
            <a:ext cx="4206240" cy="1051560"/>
          </a:xfrm>
          <a:prstGeom prst="roundRect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MIRRORS &amp; ARTIFACTS
W&amp;B: 1,034 runs / 17 projects
HuggingFace: 49 adapter repos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675120" y="2304288"/>
            <a:ext cx="731520" cy="512064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675120" y="3904488"/>
            <a:ext cx="731520" cy="27432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8064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Design rule: no number enters a paper without a path back through this stack — run → telemetry → artifact → audit row.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Not Only GRPO — Algorithms &amp; Methods Run,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4663440"/>
              </a:tblGrid>
              <a:tr h="32918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algorithm /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was run (question it answers)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GRPO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 fleets (Qwen3-8B); TRL on Modal H100; open trainers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subject: does its group-relative update starve, when, and how do you see it? (Claims 1-2)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Dr.GRPO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six-arm uncapped panel, 3 seeds/loss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Test the base paper's strongest critique: does the length-bias fix change length/ZVF at our scale? (No footprint - Result 4)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GSPO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same-stack head-to-head vs GRPO (G=8)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Isolate ONE knob (token- vs sequence-level IS ratio) with everything else fixed - the same-stack control discipline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SB3 / CleanRL / Tianshou (Modal H100) + bench arm (HF: tinker-rl-bench-ppo_*)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Was dropping the critic actually free? Value-based baseline + cross-library reproducibility anchor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REINFORCE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Colab baselines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Simplest policy gradient: a floor showing gains are not just any-PG artifacts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DPO / IDPO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TRL via unified script generator (platform_local)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counterfactual family: preference optimisation without rollouts has no groups - no ZVF by construction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SFT + off-policy 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capstone tool-call LoRAs; Llama-3.2-1B distillation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Non-RL control: how much of the gain needs RL at all?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"DAPO" (label audit)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 trainer w/ dynamic sampling vs closed-stack surrogate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How much does a method NAME underdetermine the executed update? Measured: ZVF 0.00 vs 0.55-0.58 under one label</a:t>
                      </a:r>
                    </a:p>
                  </a:txBody>
                  <a:tcPr/>
                </a:tc>
              </a:tr>
              <a:tr h="32919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AERO / AREAL / GIFT + adaptive-G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open-stack method traces; 4-arm audit pilot (T4)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Can telemetry alone distinguish method variants (P8 detector), and is collapse universal across them? (P2 panel)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Datasets used for finetuning — RL: GSM8K train split (openai/gsm8k "main"; 512-prompt pools, 32 rollouts/prompt, binary boxed-answer reward) and synthetic arithmetic (easy/medium) for the 0.5B-1.5B short-horizon panels and small-model sweeps. SFT (capstone): Salesforce xLAM-Function-Calling-60k (tool-call LoRAs, Qwen 0.5B-7B).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Evaluation-only — never trained on: GSM8K test (1,319 problems, disjoint from the reward environment), MATH-500, MBPP, HumanEval. Held-out discipline is an explicit reporting-standard item.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Inherited (Sem 3, Group 6): TinkerRL-Bench — 79 logged GRPO-style runs across 7 RL libraries (0.6B–671B), submitted to NeurIPS 2026 Main Track as "A Unified Benchmark for RL Post-Training of Language Models"; plus literature survey and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01752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ZVF is a diagnostic, not a predictor: ZVF rose AFTER the reward plateau in every measured collapse — a cheap alarm, not a cause.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Population form: the U-shaped kernel — starvation at both walls (too hard / mastered); larger G narrows both.</a:t>
            </a:r>
          </a:p>
        </p:txBody>
      </p:sp>
      <p:pic>
        <p:nvPicPr>
          <p:cNvPr id="6" name="Picture 5" descr="u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017520"/>
            <a:ext cx="4114800" cy="24530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Interpretation: small G buys early steps and starves the endgame; large G holds signal throughout. Group size selects WHICH END of training starves — a schedule variable.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Honesty check: static fixed-step sweeps are confounded by what the budget is held in; controller efficacy is NOT claimed (pre-registered test is future work).</a:t>
            </a:r>
          </a:p>
        </p:txBody>
      </p:sp>
      <p:pic>
        <p:nvPicPr>
          <p:cNvPr id="5" name="Picture 4" descr="budget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4206240" cy="25075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6–12%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the runner;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Reproducibility: Measured Flips, and the Standard They Justify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Deliverables: MIN-REPORT-RL (8-item minimum reportable stack — every item justified by a measured flip), GRPO-Registry (machine-readable catalog, 20 seed entries), stackdiff (pairwise flip-risk verdicts R0–R5).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(200 problems, n=32, clustered bootstrap): pass@1 30.4% [27.5, 33.1] but pass@32 91.0% —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(the 79-run cross-library corpus, 7 libraries, 0.6B–671B): scale does not uniformly reduce ZVF; starvation is (difficulty × G × phase) geometry, not something scale buys you out 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— embedded below (double-click to open).</a:t>
            </a:r>
          </a:p>
        </p:txBody>
      </p:sp>
      <p:graphicFrame>
        <p:nvGraphicFramePr>
          <p:cNvPr id="5" name="Object 4"/>
          <p:cNvGraphicFramePr>
            <a:graphicFrameLocks noGrp="1"/>
          </p:cNvGraphicFramePr>
          <p:nvPr/>
        </p:nvGraphicFramePr>
        <p:xfrm>
          <a:off x="868680" y="4709160"/>
          <a:ext cx="965200" cy="609600"/>
        </p:xfrm>
        <a:graphic>
          <a:graphicData uri="http://schemas.openxmlformats.org/presentationml/2006/ole">
            <p:oleObj showAsIcon="1" r:id="rId3" imgW="777240" imgH="868680" progId="Excel.Sheet.12">
              <p:embed/>
              <p:pic>
                <p:nvPicPr>
                  <p:cNvPr id="0" name="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68680" y="4709160"/>
                    <a:ext cx="965200" cy="6096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783080" y="4846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tinker_runs_audit_2026-07-12.xlsx — embedded copy (983 runs · key_runs · external_runs · wandb_runs · hf_artifacts · insights). Canonical file: outputs/ in the repo.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766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Fallback if connectivity fails: the 86-second recorded walkthrough — embedded on this slide (right), plays offline.</a:t>
            </a:r>
          </a:p>
        </p:txBody>
      </p:sp>
      <p:pic>
        <p:nvPicPr>
          <p:cNvPr id="5" name="demo_walkthroug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726679" y="1097280"/>
            <a:ext cx="3931920" cy="2551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675887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embedded fallback: 86 s recorded walkthrough (click to 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Click-to-open evidence (live):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6"/>
              </a:rPr>
              <a:t>↗  W&amp;B: E-R2b G=2 arm — reward hits ~1.0 while ZVF climbs into the wall (er2b_g2_s123)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7"/>
              </a:rPr>
              <a:t>↗  W&amp;B: E-R2b G=16 arm — mid-learning, ZVF low, signal intact (er2b_g16_s123)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8"/>
              </a:rPr>
              <a:t>↗  W&amp;B: the invalidated P4 arm, preserved (p4uncap_drgrpo_s42.invalid_actually_grpo)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9"/>
              </a:rPr>
              <a:t>↗  W&amp;B: full zvf-training project (45 runs)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0"/>
              </a:rPr>
              <a:t>↗  HuggingFace: published bench adapters (e.g. tinker-rl-bench-ppo_gsm8k_Qwen3-8B_s42)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1"/>
              </a:rPr>
              <a:t>↗  GitHub: arvindcr4/tinker-rl-lab (code, artifacts, audit workbook)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/>
            </a:r>
            <a:r>
              <a:rPr sz="1500" u="sng">
                <a:solidFill>
                  <a:srgbClr val="0B5CAB"/>
                </a:solidFill>
                <a:latin typeface="Calibri"/>
                <a:hlinkClick r:id="rId3"/>
              </a:rPr>
              <a:t>github.com/arvindcr4/tinker-rl-lab</a:t>
            </a:r>
            <a:r>
              <a:rPr sz="1500">
                <a:solidFill>
                  <a:srgbClr val="5A5A5A"/>
                </a:solidFill>
                <a:latin typeface="Calibri"/>
              </a:rPr>
              <a:t>   · 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