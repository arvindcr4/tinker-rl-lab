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c3061a2faa405a" /><Relationship Type="http://schemas.openxmlformats.org/officeDocument/2006/relationships/extended-properties" Target="/docProps/app.xml" Id="R05ebc2b8a9734eb6" /><Relationship Type="http://schemas.openxmlformats.org/officeDocument/2006/relationships/officeDocument" Target="/ppt/presentation.xml" Id="R984e49b20fbb4c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356662e56f49b6"/>
  </p:sldMasterIdLst>
  <p:notesMasterIdLst>
    <p:notesMasterId xmlns:r="http://schemas.openxmlformats.org/officeDocument/2006/relationships" r:id="R0ca862001f4b478f"/>
  </p:notesMasterIdLst>
  <p:sldIdLst>
    <p:sldId xmlns:r="http://schemas.openxmlformats.org/officeDocument/2006/relationships" id="256" r:id="Rd34cd24775ba4fcc"/>
    <p:sldId xmlns:r="http://schemas.openxmlformats.org/officeDocument/2006/relationships" id="257" r:id="Rf63f68014f1a4395"/>
    <p:sldId xmlns:r="http://schemas.openxmlformats.org/officeDocument/2006/relationships" id="258" r:id="Rd71b3192e45a44c0"/>
    <p:sldId xmlns:r="http://schemas.openxmlformats.org/officeDocument/2006/relationships" id="259" r:id="Ra9a072a9d1724571"/>
    <p:sldId xmlns:r="http://schemas.openxmlformats.org/officeDocument/2006/relationships" id="260" r:id="R9798e36b51bc4d84"/>
    <p:sldId xmlns:r="http://schemas.openxmlformats.org/officeDocument/2006/relationships" id="261" r:id="Reda53a694d024c36"/>
    <p:sldId xmlns:r="http://schemas.openxmlformats.org/officeDocument/2006/relationships" id="262" r:id="Rd03a91a3be72417f"/>
    <p:sldId xmlns:r="http://schemas.openxmlformats.org/officeDocument/2006/relationships" id="263" r:id="Re56badd4fd164f5d"/>
    <p:sldId xmlns:r="http://schemas.openxmlformats.org/officeDocument/2006/relationships" id="264" r:id="Re09599253f0a4739"/>
    <p:sldId xmlns:r="http://schemas.openxmlformats.org/officeDocument/2006/relationships" id="265" r:id="Rd025e33555e0445f"/>
    <p:sldId xmlns:r="http://schemas.openxmlformats.org/officeDocument/2006/relationships" id="266" r:id="Rf1b7ee2084ee4c69"/>
    <p:sldId xmlns:r="http://schemas.openxmlformats.org/officeDocument/2006/relationships" id="267" r:id="Rea96c61a2b1248fe"/>
    <p:sldId xmlns:r="http://schemas.openxmlformats.org/officeDocument/2006/relationships" id="268" r:id="R77c99394c2224f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de659db38433e" /><Relationship Type="http://schemas.openxmlformats.org/officeDocument/2006/relationships/slideMaster" Target="/ppt/slideMasters/slideMaster1.xml" Id="R29356662e56f49b6" /><Relationship Type="http://schemas.openxmlformats.org/officeDocument/2006/relationships/notesMaster" Target="/ppt/notesMasters/notesMaster1.xml" Id="R0ca862001f4b478f" /><Relationship Type="http://schemas.openxmlformats.org/officeDocument/2006/relationships/presProps" Target="/ppt/presProps.xml" Id="R645abc752dc744c8" /><Relationship Type="http://schemas.openxmlformats.org/officeDocument/2006/relationships/tableStyles" Target="/ppt/tableStyles.xml" Id="R8e0b1da1f2554904" /><Relationship Type="http://schemas.openxmlformats.org/officeDocument/2006/relationships/slide" Target="/ppt/slides/slide1.xml" Id="Rd34cd24775ba4fcc" /><Relationship Type="http://schemas.openxmlformats.org/officeDocument/2006/relationships/slide" Target="/ppt/slides/slide2.xml" Id="Rf63f68014f1a4395" /><Relationship Type="http://schemas.openxmlformats.org/officeDocument/2006/relationships/slide" Target="/ppt/slides/slide3.xml" Id="Rd71b3192e45a44c0" /><Relationship Type="http://schemas.openxmlformats.org/officeDocument/2006/relationships/slide" Target="/ppt/slides/slide4.xml" Id="Ra9a072a9d1724571" /><Relationship Type="http://schemas.openxmlformats.org/officeDocument/2006/relationships/slide" Target="/ppt/slides/slide5.xml" Id="R9798e36b51bc4d84" /><Relationship Type="http://schemas.openxmlformats.org/officeDocument/2006/relationships/slide" Target="/ppt/slides/slide6.xml" Id="Reda53a694d024c36" /><Relationship Type="http://schemas.openxmlformats.org/officeDocument/2006/relationships/slide" Target="/ppt/slides/slide7.xml" Id="Rd03a91a3be72417f" /><Relationship Type="http://schemas.openxmlformats.org/officeDocument/2006/relationships/slide" Target="/ppt/slides/slide8.xml" Id="Re56badd4fd164f5d" /><Relationship Type="http://schemas.openxmlformats.org/officeDocument/2006/relationships/slide" Target="/ppt/slides/slide9.xml" Id="Re09599253f0a4739" /><Relationship Type="http://schemas.openxmlformats.org/officeDocument/2006/relationships/slide" Target="/ppt/slides/slide10.xml" Id="Rd025e33555e0445f" /><Relationship Type="http://schemas.openxmlformats.org/officeDocument/2006/relationships/slide" Target="/ppt/slides/slide11.xml" Id="Rf1b7ee2084ee4c69" /><Relationship Type="http://schemas.openxmlformats.org/officeDocument/2006/relationships/slide" Target="/ppt/slides/slide12.xml" Id="Rea96c61a2b1248fe" /><Relationship Type="http://schemas.openxmlformats.org/officeDocument/2006/relationships/slide" Target="/ppt/slides/slide13.xml" Id="R77c99394c222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ea19bc741142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7207538aa244f5" /><Relationship Type="http://schemas.openxmlformats.org/officeDocument/2006/relationships/notesMaster" Target="/ppt/notesMasters/notesMaster1.xml" Id="Rad8f3edd1f244a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82cc585d144725" /><Relationship Type="http://schemas.openxmlformats.org/officeDocument/2006/relationships/notesMaster" Target="/ppt/notesMasters/notesMaster1.xml" Id="Rbe9ca1b172a047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1db5092d748fa" /><Relationship Type="http://schemas.openxmlformats.org/officeDocument/2006/relationships/notesMaster" Target="/ppt/notesMasters/notesMaster1.xml" Id="Rb96f4f38ef1d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ceaf3fc1bb40bb" /><Relationship Type="http://schemas.openxmlformats.org/officeDocument/2006/relationships/notesMaster" Target="/ppt/notesMasters/notesMaster1.xml" Id="R2fc3cb976f5443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c81fbedd94910" /><Relationship Type="http://schemas.openxmlformats.org/officeDocument/2006/relationships/notesMaster" Target="/ppt/notesMasters/notesMaster1.xml" Id="Rddf12ee4b4ca46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eb14f6da5c4d7f" /><Relationship Type="http://schemas.openxmlformats.org/officeDocument/2006/relationships/notesMaster" Target="/ppt/notesMasters/notesMaster1.xml" Id="R099e1bff713c43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eb2e3225384c81" /><Relationship Type="http://schemas.openxmlformats.org/officeDocument/2006/relationships/notesMaster" Target="/ppt/notesMasters/notesMaster1.xml" Id="Rba3fdb1fc52047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49aa0dcc4243e0" /><Relationship Type="http://schemas.openxmlformats.org/officeDocument/2006/relationships/notesMaster" Target="/ppt/notesMasters/notesMaster1.xml" Id="R8273d9b1384e45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4fb0c641f5401b" /><Relationship Type="http://schemas.openxmlformats.org/officeDocument/2006/relationships/notesMaster" Target="/ppt/notesMasters/notesMaster1.xml" Id="Rfd1f1d041a1a4b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970b8e0f3941a2" /><Relationship Type="http://schemas.openxmlformats.org/officeDocument/2006/relationships/notesMaster" Target="/ppt/notesMasters/notesMaster1.xml" Id="R4190efa8184246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fabf7752694206" /><Relationship Type="http://schemas.openxmlformats.org/officeDocument/2006/relationships/notesMaster" Target="/ppt/notesMasters/notesMaster1.xml" Id="R237f244ea2de46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b63b6612f54e67" /><Relationship Type="http://schemas.openxmlformats.org/officeDocument/2006/relationships/notesMaster" Target="/ppt/notesMasters/notesMaster1.xml" Id="R9885859816cd4e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3bc63388e148d3" /><Relationship Type="http://schemas.openxmlformats.org/officeDocument/2006/relationships/notesMaster" Target="/ppt/notesMasters/notesMaster1.xml" Id="R3eaaa021465d4a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0d392f29e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d9d527fca24046" /><Relationship Type="http://schemas.openxmlformats.org/officeDocument/2006/relationships/slideLayout" Target="/ppt/slideLayouts/slideLayout1.xml" Id="Rbd8d9ca92c7b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d9ca92c7b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26535b1d34ba6" /><Relationship Type="http://schemas.openxmlformats.org/officeDocument/2006/relationships/notesSlide" Target="/ppt/notesSlides/notesSlide1.xml" Id="Rc7c330dd98b0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789d5f32347ac" /><Relationship Type="http://schemas.openxmlformats.org/officeDocument/2006/relationships/notesSlide" Target="/ppt/notesSlides/notesSlide2.xml" Id="Rf795e68a583c47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32a311ceb45ef" /><Relationship Type="http://schemas.openxmlformats.org/officeDocument/2006/relationships/notesSlide" Target="/ppt/notesSlides/notesSlide3.xml" Id="R3df17b2054fd4d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cdc26dfdd430d" /><Relationship Type="http://schemas.openxmlformats.org/officeDocument/2006/relationships/notesSlide" Target="/ppt/notesSlides/notesSlide4.xml" Id="R12a16de2420144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c465e13da4b91" /><Relationship Type="http://schemas.openxmlformats.org/officeDocument/2006/relationships/notesSlide" Target="/ppt/notesSlides/notesSlide5.xml" Id="R08f268440e26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21a001e154929" /><Relationship Type="http://schemas.openxmlformats.org/officeDocument/2006/relationships/notesSlide" Target="/ppt/notesSlides/notesSlide6.xml" Id="R562f8f0610334f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9ac889f3a4d40" /><Relationship Type="http://schemas.openxmlformats.org/officeDocument/2006/relationships/notesSlide" Target="/ppt/notesSlides/notesSlide7.xml" Id="R0fd3ed61ae8147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1e6b5b25e4cf0" /><Relationship Type="http://schemas.openxmlformats.org/officeDocument/2006/relationships/notesSlide" Target="/ppt/notesSlides/notesSlide8.xml" Id="Rc8b15627b1404c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e22c956c7475a" /><Relationship Type="http://schemas.openxmlformats.org/officeDocument/2006/relationships/notesSlide" Target="/ppt/notesSlides/notesSlide9.xml" Id="R4811b79e94394d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1ee75e0124266" /><Relationship Type="http://schemas.openxmlformats.org/officeDocument/2006/relationships/notesSlide" Target="/ppt/notesSlides/notesSlide10.xml" Id="Rbba2b1428ba84e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b4f097cc24e3d" /><Relationship Type="http://schemas.openxmlformats.org/officeDocument/2006/relationships/notesSlide" Target="/ppt/notesSlides/notesSlide11.xml" Id="R0b3a88493a1144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824b6498c4857" /><Relationship Type="http://schemas.openxmlformats.org/officeDocument/2006/relationships/notesSlide" Target="/ppt/notesSlides/notesSlide12.xml" Id="Rf8910b89ce5841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3a20a79b641de" /><Relationship Type="http://schemas.openxmlformats.org/officeDocument/2006/relationships/notesSlide" Target="/ppt/notesSlides/notesSlide13.xml" Id="Rb57ab3cfd2214e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rail">
            <a:extLst xmlns:a="http://schemas.openxmlformats.org/drawingml/2006/main">
              <a:ext uri="{FF2B5EF4-FFF2-40B4-BE49-F238E27FC236}">
                <a16:creationId xmlns:a16="http://schemas.microsoft.com/office/drawing/2014/main" id="{79AE33FC-C32A-487F-BE08-B3845DAF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D0383D45-E712-4041-8EBB-08BB4A6C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MTECH PROJECT · PHASE 1 DEFENSE</a:t>
            </a:r>
          </a:p>
        </p:txBody>
      </p:sp>
      <p:sp>
        <p:nvSpPr>
          <p:cNvPr id="3" name="title-main">
            <a:extLst xmlns:a="http://schemas.openxmlformats.org/drawingml/2006/main">
              <a:ext uri="{FF2B5EF4-FFF2-40B4-BE49-F238E27FC236}">
                <a16:creationId xmlns:a16="http://schemas.microsoft.com/office/drawing/2014/main" id="{B6E340C2-8FD1-4534-8F4C-17BB6D75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00150"/>
            <a:ext cx="76200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Diagnosing</a:t>
            </a:r>
          </a:p>
          <a:p xmlns:a="http://schemas.openxmlformats.org/drawingml/2006/main">
            <a:pPr>
              <a:def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Zero-Advantage Sampling</a:t>
            </a:r>
          </a:p>
          <a:p xmlns:a="http://schemas.openxmlformats.org/drawingml/2006/main">
            <a:pPr>
              <a:defRPr sz="40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 Group-Relative RL</a:t>
            </a:r>
          </a:p>
        </p:txBody>
      </p:sp>
      <p:sp>
        <p:nvSpPr>
          <p:cNvPr id="4" name="title-sub">
            <a:extLst xmlns:a="http://schemas.openxmlformats.org/drawingml/2006/main">
              <a:ext uri="{FF2B5EF4-FFF2-40B4-BE49-F238E27FC236}">
                <a16:creationId xmlns:a16="http://schemas.microsoft.com/office/drawing/2014/main" id="{BC45320F-AAD2-4B72-B341-CB7A9611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477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A measurement, intervention, and reproducibility study</a:t>
            </a:r>
          </a:p>
        </p:txBody>
      </p:sp>
      <p:sp>
        <p:nvSpPr>
          <p:cNvPr id="5" name="title-meta-panel">
            <a:extLst xmlns:a="http://schemas.openxmlformats.org/drawingml/2006/main">
              <a:ext uri="{FF2B5EF4-FFF2-40B4-BE49-F238E27FC236}">
                <a16:creationId xmlns:a16="http://schemas.microsoft.com/office/drawing/2014/main" id="{E6E5C6BA-5EA5-46E4-B104-F9BCC1F5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66750"/>
            <a:ext cx="34290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6" name="title-author">
            <a:extLst xmlns:a="http://schemas.openxmlformats.org/drawingml/2006/main">
              <a:ext uri="{FF2B5EF4-FFF2-40B4-BE49-F238E27FC236}">
                <a16:creationId xmlns:a16="http://schemas.microsoft.com/office/drawing/2014/main" id="{AA0575D7-4B0C-4B08-93A5-9ACF6A42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667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Arvind C R</a:t>
            </a:r>
          </a:p>
        </p:txBody>
      </p:sp>
      <p:sp>
        <p:nvSpPr>
          <p:cNvPr id="7" name="title-srn">
            <a:extLst xmlns:a="http://schemas.openxmlformats.org/drawingml/2006/main">
              <a:ext uri="{FF2B5EF4-FFF2-40B4-BE49-F238E27FC236}">
                <a16:creationId xmlns:a16="http://schemas.microsoft.com/office/drawing/2014/main" id="{4903D87B-B33E-4C5F-AB34-45949D19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43075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CBD1"/>
                </a:solidFill>
                <a:latin typeface="Helvetica Neue"/>
                <a:ea typeface="Helvetica Neue"/>
                <a:cs typeface="Helvetica Neue"/>
              </a:defRPr>
            </a:pPr>
            <a:r>
              <a:t>SRN: PES2PG24DS140</a:t>
            </a:r>
          </a:p>
        </p:txBody>
      </p:sp>
      <p:sp>
        <p:nvSpPr>
          <p:cNvPr id="8" name="title-meta-rule">
            <a:extLst xmlns:a="http://schemas.openxmlformats.org/drawingml/2006/main">
              <a:ext uri="{FF2B5EF4-FFF2-40B4-BE49-F238E27FC236}">
                <a16:creationId xmlns:a16="http://schemas.microsoft.com/office/drawing/2014/main" id="{04608C86-3CF8-49F5-84FD-2B4E2DC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574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9" name="title-meta">
            <a:extLst xmlns:a="http://schemas.openxmlformats.org/drawingml/2006/main">
              <a:ext uri="{FF2B5EF4-FFF2-40B4-BE49-F238E27FC236}">
                <a16:creationId xmlns:a16="http://schemas.microsoft.com/office/drawing/2014/main" id="{57D7A32A-5F9E-46C0-A1A2-1C48A61A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0" cy="2524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Department of Computer Science and Engineering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M.Tech Data Science and Machine Learning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PES University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Guide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Ramesh Prakash Guledgudd</a:t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July 2026</a:t>
            </a:r>
          </a:p>
        </p:txBody>
      </p:sp>
      <p:sp>
        <p:nvSpPr>
          <p:cNvPr id="10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0482A406-20D8-4905-9E82-4EBF1D36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Canonical artifact: reports/esa_phase1/Phase1_Project_Report_ZVF.tex</a:t>
            </a:r>
          </a:p>
        </p:txBody>
      </p:sp>
      <p:sp>
        <p:nvSpPr>
          <p:cNvPr id="11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8647F3B3-C271-4D99-93CE-C77A9FE1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1921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1466A168-5DF1-4E02-A4A7-6E40E075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PROBLEM</a:t>
            </a:r>
          </a:p>
        </p:txBody>
      </p:sp>
      <p:sp>
        <p:nvSpPr>
          <p:cNvPr id="2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50B21F5F-5CF2-4371-B074-0C52C876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7620000" cy="233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 sampled group can consume compute</a:t>
            </a:r>
          </a:p>
          <a:p xmlns:a="http://schemas.openxmlformats.org/drawingml/2006/main">
            <a:pPr>
              <a:defRPr sz="36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and still carry no reward-derived</a:t>
            </a:r>
          </a:p>
          <a:p xmlns:a="http://schemas.openxmlformats.org/drawingml/2006/main">
            <a:pPr>
              <a:defRPr sz="36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policy-gradient signal.</a:t>
            </a:r>
          </a:p>
        </p:txBody>
      </p:sp>
      <p:sp>
        <p:nvSpPr>
          <p:cNvPr id="3" name="problem-side">
            <a:extLst xmlns:a="http://schemas.openxmlformats.org/drawingml/2006/main">
              <a:ext uri="{FF2B5EF4-FFF2-40B4-BE49-F238E27FC236}">
                <a16:creationId xmlns:a16="http://schemas.microsoft.com/office/drawing/2014/main" id="{EDCA82F6-9B30-4CE5-BF6B-746944F2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4" name="problem-side-label">
            <a:extLst xmlns:a="http://schemas.openxmlformats.org/drawingml/2006/main">
              <a:ext uri="{FF2B5EF4-FFF2-40B4-BE49-F238E27FC236}">
                <a16:creationId xmlns:a16="http://schemas.microsoft.com/office/drawing/2014/main" id="{0B3DE71A-F052-4B8F-96C5-9660B173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429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GROUP-RELATIVE UPDATE</a:t>
            </a:r>
          </a:p>
        </p:txBody>
      </p:sp>
      <p:sp>
        <p:nvSpPr>
          <p:cNvPr id="5" name="problem-side-formula">
            <a:extLst xmlns:a="http://schemas.openxmlformats.org/drawingml/2006/main">
              <a:ext uri="{FF2B5EF4-FFF2-40B4-BE49-F238E27FC236}">
                <a16:creationId xmlns:a16="http://schemas.microsoft.com/office/drawing/2014/main" id="{23D95AB4-7746-4AF4-8759-8CE4343C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71600"/>
            <a:ext cx="2857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Aᵢ = rᵢ − r̄group</a:t>
            </a:r>
          </a:p>
        </p:txBody>
      </p:sp>
      <p:sp>
        <p:nvSpPr>
          <p:cNvPr id="6" name="problem-side-rule">
            <a:extLst xmlns:a="http://schemas.openxmlformats.org/drawingml/2006/main">
              <a:ext uri="{FF2B5EF4-FFF2-40B4-BE49-F238E27FC236}">
                <a16:creationId xmlns:a16="http://schemas.microsoft.com/office/drawing/2014/main" id="{C8D13952-130D-4BF5-9B10-39522A5F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problem-side-copy">
            <a:extLst xmlns:a="http://schemas.openxmlformats.org/drawingml/2006/main">
              <a:ext uri="{FF2B5EF4-FFF2-40B4-BE49-F238E27FC236}">
                <a16:creationId xmlns:a16="http://schemas.microsoft.com/office/drawing/2014/main" id="{BE38A60A-BD6D-4CF0-9BBB-8A0DCD2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2667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If every completion receives the same reward, then every Aᵢ is zero.</a:t>
            </a:r>
          </a:p>
          <a:p xmlns:a="http://schemas.openxmlformats.org/drawingml/2006/main">
            <a:pPr>
              <a:defRPr sz="16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The project asks: how often does this happen, what does it waste, and can training avoid it?</a:t>
            </a:r>
          </a:p>
        </p:txBody>
      </p:sp>
      <p:sp>
        <p:nvSpPr>
          <p:cNvPr id="8" name="problem-bottom">
            <a:extLst xmlns:a="http://schemas.openxmlformats.org/drawingml/2006/main">
              <a:ext uri="{FF2B5EF4-FFF2-40B4-BE49-F238E27FC236}">
                <a16:creationId xmlns:a16="http://schemas.microsoft.com/office/drawing/2014/main" id="{ED2D53B5-413B-4C44-A114-1FFA5B9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7239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thesis contribution is diagnostic: quantify the phenomenon, test interventions, and ship reproducible evidence.</a:t>
            </a:r>
          </a:p>
        </p:txBody>
      </p:sp>
      <p:sp>
        <p:nvSpPr>
          <p:cNvPr id="9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6736687A-2EE4-4927-A737-825F3041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Definition and scope: thesis Ch. 1–2; KL/entropy terms are outside this reward-derived signal statement.</a:t>
            </a:r>
          </a:p>
        </p:txBody>
      </p:sp>
      <p:sp>
        <p:nvSpPr>
          <p:cNvPr id="10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80845B63-D75A-4BEE-A506-70F8A5EC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0003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98C021DF-5265-4316-BCB3-ED11ADB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MECHANISM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1717B2F-43C4-4EC3-8D50-2825C24A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Zero-variance fraction (ZVF) is the observable</a:t>
            </a:r>
          </a:p>
        </p:txBody>
      </p:sp>
      <p:sp>
        <p:nvSpPr>
          <p:cNvPr id="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FA26815-1799-496F-A4BA-B815E0CA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33675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A77E285-E383-4A25-99E2-F1F0E005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33675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ADD784C-4CB7-446E-B49F-285D7D3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8F7"/>
          </a:solidFill>
          <a:ln xmlns:a="http://schemas.openxmlformats.org/drawingml/2006/main" w="11430">
            <a:solidFill>
              <a:srgbClr val="D4D7DC"/>
            </a:solidFill>
            <a:prstDash val="solid"/>
          </a:ln>
        </p:spPr>
      </p:sp>
      <p:sp>
        <p:nvSpPr>
          <p:cNvPr id="6" name="flow-node-2">
            <a:extLst xmlns:a="http://schemas.openxmlformats.org/drawingml/2006/main">
              <a:ext uri="{FF2B5EF4-FFF2-40B4-BE49-F238E27FC236}">
                <a16:creationId xmlns:a16="http://schemas.microsoft.com/office/drawing/2014/main" id="{587BAFCE-BD42-4767-AC3F-3D61C917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E7DD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7" name="flow-node-3">
            <a:extLst xmlns:a="http://schemas.openxmlformats.org/drawingml/2006/main">
              <a:ext uri="{FF2B5EF4-FFF2-40B4-BE49-F238E27FC236}">
                <a16:creationId xmlns:a16="http://schemas.microsoft.com/office/drawing/2014/main" id="{AE622A72-F1DF-4568-9CDD-CA892F24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5262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8F7"/>
          </a:solidFill>
          <a:ln xmlns:a="http://schemas.openxmlformats.org/drawingml/2006/main" w="11430">
            <a:solidFill>
              <a:srgbClr val="D4D7DC"/>
            </a:solidFill>
            <a:prstDash val="solid"/>
          </a:ln>
        </p:spPr>
      </p:sp>
      <p:sp>
        <p:nvSpPr>
          <p:cNvPr id="8" name="flow-node-1-title">
            <a:extLst xmlns:a="http://schemas.openxmlformats.org/drawingml/2006/main">
              <a:ext uri="{FF2B5EF4-FFF2-40B4-BE49-F238E27FC236}">
                <a16:creationId xmlns:a16="http://schemas.microsoft.com/office/drawing/2014/main" id="{8229602B-75A7-485B-AE0E-4E5FCA5F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Sample a group</a:t>
            </a:r>
          </a:p>
        </p:txBody>
      </p:sp>
      <p:sp>
        <p:nvSpPr>
          <p:cNvPr id="9" name="flow-node-1-body">
            <a:extLst xmlns:a="http://schemas.openxmlformats.org/drawingml/2006/main">
              <a:ext uri="{FF2B5EF4-FFF2-40B4-BE49-F238E27FC236}">
                <a16:creationId xmlns:a16="http://schemas.microsoft.com/office/drawing/2014/main" id="{A90AED62-620D-4034-9717-A2A4C157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6098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G completions</a:t>
            </a:r>
          </a:p>
          <a:p xmlns:a="http://schemas.openxmlformats.org/drawingml/2006/main">
            <a:pPr>
              <a:defRPr sz="17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per prompt</a:t>
            </a:r>
          </a:p>
        </p:txBody>
      </p:sp>
      <p:sp>
        <p:nvSpPr>
          <p:cNvPr id="10" name="flow-node-2-title">
            <a:extLst xmlns:a="http://schemas.openxmlformats.org/drawingml/2006/main">
              <a:ext uri="{FF2B5EF4-FFF2-40B4-BE49-F238E27FC236}">
                <a16:creationId xmlns:a16="http://schemas.microsoft.com/office/drawing/2014/main" id="{8CF9DF49-BC70-4623-A093-E3A38B9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23837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264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Check reward variance</a:t>
            </a:r>
          </a:p>
        </p:txBody>
      </p:sp>
      <p:sp>
        <p:nvSpPr>
          <p:cNvPr id="11" name="flow-node-2-body">
            <a:extLst xmlns:a="http://schemas.openxmlformats.org/drawingml/2006/main">
              <a:ext uri="{FF2B5EF4-FFF2-40B4-BE49-F238E27FC236}">
                <a16:creationId xmlns:a16="http://schemas.microsoft.com/office/drawing/2014/main" id="{BE366E4F-4AE4-4655-92C8-6AE417E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914650"/>
            <a:ext cx="2609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Var(r₁…rG) = 0 ?</a:t>
            </a:r>
          </a:p>
        </p:txBody>
      </p:sp>
      <p:sp>
        <p:nvSpPr>
          <p:cNvPr id="12" name="flow-node-3-title">
            <a:extLst xmlns:a="http://schemas.openxmlformats.org/drawingml/2006/main">
              <a:ext uri="{FF2B5EF4-FFF2-40B4-BE49-F238E27FC236}">
                <a16:creationId xmlns:a16="http://schemas.microsoft.com/office/drawing/2014/main" id="{47823350-D283-4E26-BAF6-1DD05E65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38375"/>
            <a:ext cx="2609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391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Count collapsed groups</a:t>
            </a:r>
          </a:p>
        </p:txBody>
      </p:sp>
      <p:sp>
        <p:nvSpPr>
          <p:cNvPr id="13" name="flow-node-3-body">
            <a:extLst xmlns:a="http://schemas.openxmlformats.org/drawingml/2006/main">
              <a:ext uri="{FF2B5EF4-FFF2-40B4-BE49-F238E27FC236}">
                <a16:creationId xmlns:a16="http://schemas.microsoft.com/office/drawing/2014/main" id="{DC9B74FC-1308-441E-BF23-92F6BB98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6098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ZVF = collapsed groups</a:t>
            </a:r>
          </a:p>
          <a:p xmlns:a="http://schemas.openxmlformats.org/drawingml/2006/main">
            <a:pPr>
              <a:defRPr sz="17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÷ sampled groups</a:t>
            </a:r>
          </a:p>
        </p:txBody>
      </p:sp>
      <p:sp>
        <p:nvSpPr>
          <p:cNvPr id="14" name="mechanism-banner">
            <a:extLst xmlns:a="http://schemas.openxmlformats.org/drawingml/2006/main">
              <a:ext uri="{FF2B5EF4-FFF2-40B4-BE49-F238E27FC236}">
                <a16:creationId xmlns:a16="http://schemas.microsoft.com/office/drawing/2014/main" id="{BBCC495B-5401-4F1E-B598-DF0F772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5" name="mechanism-banner-copy">
            <a:extLst xmlns:a="http://schemas.openxmlformats.org/drawingml/2006/main">
              <a:ext uri="{FF2B5EF4-FFF2-40B4-BE49-F238E27FC236}">
                <a16:creationId xmlns:a16="http://schemas.microsoft.com/office/drawing/2014/main" id="{A4F472D6-289E-4CC0-96EA-AE846179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10668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ZVF measures sampling efficiency, not total optimizer gradient.</a:t>
            </a:r>
          </a:p>
          <a:p xmlns:a="http://schemas.openxmlformats.org/drawingml/2006/main">
            <a:pPr>
              <a:defRPr sz="18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The distinction prevents an overclaim when KL or entropy terms remain active.</a:t>
            </a:r>
          </a:p>
        </p:txBody>
      </p:sp>
      <p:sp>
        <p:nvSpPr>
          <p:cNvPr id="16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0D4E505E-6108-4250-AEBF-F1B040A3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Metric implementation: experiments/openings/p2_collapse_analysis.py; fixed schedule analysis in collapse_baseline_analysis.json.</a:t>
            </a:r>
          </a:p>
        </p:txBody>
      </p:sp>
      <p:sp>
        <p:nvSpPr>
          <p:cNvPr id="17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472AF0BD-588F-400F-8B73-797F80E0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10060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18E812C8-1504-421C-892D-C9924734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QUESTIONS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7461D26-EBB2-47F2-92CD-B571DF09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Four questions define the Phase 1 boundary</a:t>
            </a:r>
          </a:p>
        </p:txBody>
      </p:sp>
      <p:sp>
        <p:nvSpPr>
          <p:cNvPr id="3" name="objective-box-0">
            <a:extLst xmlns:a="http://schemas.openxmlformats.org/drawingml/2006/main">
              <a:ext uri="{FF2B5EF4-FFF2-40B4-BE49-F238E27FC236}">
                <a16:creationId xmlns:a16="http://schemas.microsoft.com/office/drawing/2014/main" id="{D577FFEC-F52C-4C3D-8A23-F17B7E54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55530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4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7FE2BD2E-6DED-4126-8B74-5C3590B2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74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5" name="objective-title-0">
            <a:extLst xmlns:a="http://schemas.openxmlformats.org/drawingml/2006/main">
              <a:ext uri="{FF2B5EF4-FFF2-40B4-BE49-F238E27FC236}">
                <a16:creationId xmlns:a16="http://schemas.microsoft.com/office/drawing/2014/main" id="{1C262CC7-9506-45D1-AFC1-809463C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621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Measure</a:t>
            </a:r>
          </a:p>
        </p:txBody>
      </p:sp>
      <p:sp>
        <p:nvSpPr>
          <p:cNvPr id="6" name="objective-body-0">
            <a:extLst xmlns:a="http://schemas.openxmlformats.org/drawingml/2006/main">
              <a:ext uri="{FF2B5EF4-FFF2-40B4-BE49-F238E27FC236}">
                <a16:creationId xmlns:a16="http://schemas.microsoft.com/office/drawing/2014/main" id="{E40CC851-30D4-4F1E-AD70-932C5310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14600"/>
            <a:ext cx="3905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How frequently do sampled groups have zero reward variance?</a:t>
            </a:r>
          </a:p>
        </p:txBody>
      </p:sp>
      <p:sp>
        <p:nvSpPr>
          <p:cNvPr id="7" name="objective-box-1">
            <a:extLst xmlns:a="http://schemas.openxmlformats.org/drawingml/2006/main">
              <a:ext uri="{FF2B5EF4-FFF2-40B4-BE49-F238E27FC236}">
                <a16:creationId xmlns:a16="http://schemas.microsoft.com/office/drawing/2014/main" id="{5A48835A-D0F6-4A50-A967-4E5E5AC6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33550"/>
            <a:ext cx="55530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8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31C6E3E0-FBED-4C2B-B8DB-D812458B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962150"/>
            <a:ext cx="74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objective-title-1">
            <a:extLst xmlns:a="http://schemas.openxmlformats.org/drawingml/2006/main">
              <a:ext uri="{FF2B5EF4-FFF2-40B4-BE49-F238E27FC236}">
                <a16:creationId xmlns:a16="http://schemas.microsoft.com/office/drawing/2014/main" id="{81EAE178-8DF5-4676-A6D8-4932EA9E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621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Intervene</a:t>
            </a:r>
          </a:p>
        </p:txBody>
      </p:sp>
      <p:sp>
        <p:nvSpPr>
          <p:cNvPr id="10" name="objective-body-1">
            <a:extLst xmlns:a="http://schemas.openxmlformats.org/drawingml/2006/main">
              <a:ext uri="{FF2B5EF4-FFF2-40B4-BE49-F238E27FC236}">
                <a16:creationId xmlns:a16="http://schemas.microsoft.com/office/drawing/2014/main" id="{638D2D93-85EA-4FC9-A1EC-4BF821F7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14600"/>
            <a:ext cx="3905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Do curricula or group-size changes reduce wasted sampling?</a:t>
            </a:r>
          </a:p>
        </p:txBody>
      </p:sp>
      <p:sp>
        <p:nvSpPr>
          <p:cNvPr id="11" name="objective-box-2">
            <a:extLst xmlns:a="http://schemas.openxmlformats.org/drawingml/2006/main">
              <a:ext uri="{FF2B5EF4-FFF2-40B4-BE49-F238E27FC236}">
                <a16:creationId xmlns:a16="http://schemas.microsoft.com/office/drawing/2014/main" id="{EF8962C7-9638-42C0-BEA5-5D7FBB4F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5530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12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B48304F1-C7DE-479F-9A74-CF8DA22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74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3" name="objective-title-2">
            <a:extLst xmlns:a="http://schemas.openxmlformats.org/drawingml/2006/main">
              <a:ext uri="{FF2B5EF4-FFF2-40B4-BE49-F238E27FC236}">
                <a16:creationId xmlns:a16="http://schemas.microsoft.com/office/drawing/2014/main" id="{5C132DD8-7656-4DFE-8C6C-E5F66D3E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243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Verify</a:t>
            </a:r>
          </a:p>
        </p:txBody>
      </p:sp>
      <p:sp>
        <p:nvSpPr>
          <p:cNvPr id="14" name="objective-body-2">
            <a:extLst xmlns:a="http://schemas.openxmlformats.org/drawingml/2006/main">
              <a:ext uri="{FF2B5EF4-FFF2-40B4-BE49-F238E27FC236}">
                <a16:creationId xmlns:a16="http://schemas.microsoft.com/office/drawing/2014/main" id="{93034921-3BBB-41D8-908B-1D5664C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05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Do toy findings persist under a real 3B model and multiple seeds?</a:t>
            </a:r>
          </a:p>
        </p:txBody>
      </p:sp>
      <p:sp>
        <p:nvSpPr>
          <p:cNvPr id="15" name="objective-box-3">
            <a:extLst xmlns:a="http://schemas.openxmlformats.org/drawingml/2006/main">
              <a:ext uri="{FF2B5EF4-FFF2-40B4-BE49-F238E27FC236}">
                <a16:creationId xmlns:a16="http://schemas.microsoft.com/office/drawing/2014/main" id="{3F51C084-5ADE-420D-980B-9ABDBAEB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55530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B7226A8A-87BA-40BF-A4FB-64B0A09A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324350"/>
            <a:ext cx="742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7" name="objective-title-3">
            <a:extLst xmlns:a="http://schemas.openxmlformats.org/drawingml/2006/main">
              <a:ext uri="{FF2B5EF4-FFF2-40B4-BE49-F238E27FC236}">
                <a16:creationId xmlns:a16="http://schemas.microsoft.com/office/drawing/2014/main" id="{C8814BF0-A6BC-4158-8E80-A9307CC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24350"/>
            <a:ext cx="3810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Operationalize</a:t>
            </a:r>
          </a:p>
        </p:txBody>
      </p:sp>
      <p:sp>
        <p:nvSpPr>
          <p:cNvPr id="18" name="objective-body-3">
            <a:extLst xmlns:a="http://schemas.openxmlformats.org/drawingml/2006/main">
              <a:ext uri="{FF2B5EF4-FFF2-40B4-BE49-F238E27FC236}">
                <a16:creationId xmlns:a16="http://schemas.microsoft.com/office/drawing/2014/main" id="{1364AB04-D3D4-489B-A35C-A231AB18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76800"/>
            <a:ext cx="3905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Can telemetry expose the regime and reproduce the claim?</a:t>
            </a:r>
          </a:p>
        </p:txBody>
      </p:sp>
      <p:sp>
        <p:nvSpPr>
          <p:cNvPr id="19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3263D2AC-EE91-4077-B577-4E26D655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Phase 1 scope: measurement + exploratory interventions + verification + reproducibility.</a:t>
            </a:r>
          </a:p>
        </p:txBody>
      </p:sp>
      <p:sp>
        <p:nvSpPr>
          <p:cNvPr id="20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FF8C8134-614F-4B3E-88A1-29E20080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5986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5054BCDF-2CB0-498D-9F4A-9675B8F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SYSTEM AND PROVENANCE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D436A1D9-5D3C-4694-A1E7-508326BD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One evaluation pipeline; two contribution boundaries</a:t>
            </a:r>
          </a:p>
        </p:txBody>
      </p:sp>
      <p:sp>
        <p:nvSpPr>
          <p:cNvPr id="3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06B639C6-6E5D-4DA0-ABC9-F0E31C42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1460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D24DBD33-9C78-4190-8C1B-64E8F831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51460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5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437CE575-76EB-4A9A-8AC9-74FDBAF3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6" name="arch-node-0">
            <a:extLst xmlns:a="http://schemas.openxmlformats.org/drawingml/2006/main">
              <a:ext uri="{FF2B5EF4-FFF2-40B4-BE49-F238E27FC236}">
                <a16:creationId xmlns:a16="http://schemas.microsoft.com/office/drawing/2014/main" id="{39E18C15-53EC-4F3F-9DC2-A7E2FCEA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7" name="arch-node-title-0">
            <a:extLst xmlns:a="http://schemas.openxmlformats.org/drawingml/2006/main">
              <a:ext uri="{FF2B5EF4-FFF2-40B4-BE49-F238E27FC236}">
                <a16:creationId xmlns:a16="http://schemas.microsoft.com/office/drawing/2014/main" id="{159049C6-E926-46F6-A031-15AEEC98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771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Task + model</a:t>
            </a:r>
          </a:p>
        </p:txBody>
      </p:sp>
      <p:sp>
        <p:nvSpPr>
          <p:cNvPr id="8" name="arch-node-body-0">
            <a:extLst xmlns:a="http://schemas.openxmlformats.org/drawingml/2006/main">
              <a:ext uri="{FF2B5EF4-FFF2-40B4-BE49-F238E27FC236}">
                <a16:creationId xmlns:a16="http://schemas.microsoft.com/office/drawing/2014/main" id="{16C90C27-8753-4818-9501-EDA6DD2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771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GSM8K</a:t>
            </a:r>
          </a:p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Qwen 2.5 / 3B</a:t>
            </a:r>
          </a:p>
        </p:txBody>
      </p:sp>
      <p:sp>
        <p:nvSpPr>
          <p:cNvPr id="9" name="arch-node-1">
            <a:extLst xmlns:a="http://schemas.openxmlformats.org/drawingml/2006/main">
              <a:ext uri="{FF2B5EF4-FFF2-40B4-BE49-F238E27FC236}">
                <a16:creationId xmlns:a16="http://schemas.microsoft.com/office/drawing/2014/main" id="{30F12DAE-D2BE-4171-8ED4-4A1B867C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097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10" name="arch-node-title-1">
            <a:extLst xmlns:a="http://schemas.openxmlformats.org/drawingml/2006/main">
              <a:ext uri="{FF2B5EF4-FFF2-40B4-BE49-F238E27FC236}">
                <a16:creationId xmlns:a16="http://schemas.microsoft.com/office/drawing/2014/main" id="{A2E604B7-4A7A-4042-A913-F7A8AB23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085975"/>
            <a:ext cx="1771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Group sampling</a:t>
            </a:r>
          </a:p>
        </p:txBody>
      </p:sp>
      <p:sp>
        <p:nvSpPr>
          <p:cNvPr id="11" name="arch-node-body-1">
            <a:extLst xmlns:a="http://schemas.openxmlformats.org/drawingml/2006/main">
              <a:ext uri="{FF2B5EF4-FFF2-40B4-BE49-F238E27FC236}">
                <a16:creationId xmlns:a16="http://schemas.microsoft.com/office/drawing/2014/main" id="{0311501F-B448-4082-AE76-54CC78CF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686050"/>
            <a:ext cx="1771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Methods × prompts</a:t>
            </a:r>
          </a:p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fixed schedule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5487C578-425E-4A4B-8501-C39A479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13" name="arch-node-title-2">
            <a:extLst xmlns:a="http://schemas.openxmlformats.org/drawingml/2006/main">
              <a:ext uri="{FF2B5EF4-FFF2-40B4-BE49-F238E27FC236}">
                <a16:creationId xmlns:a16="http://schemas.microsoft.com/office/drawing/2014/main" id="{FE36E7E0-7B43-4754-BD39-4514428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85975"/>
            <a:ext cx="1771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Telemetry</a:t>
            </a:r>
          </a:p>
        </p:txBody>
      </p:sp>
      <p:sp>
        <p:nvSpPr>
          <p:cNvPr id="14" name="arch-node-body-2">
            <a:extLst xmlns:a="http://schemas.openxmlformats.org/drawingml/2006/main">
              <a:ext uri="{FF2B5EF4-FFF2-40B4-BE49-F238E27FC236}">
                <a16:creationId xmlns:a16="http://schemas.microsoft.com/office/drawing/2014/main" id="{72C8E0AA-1AC5-476F-8F31-785F84B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86050"/>
            <a:ext cx="1771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Rewards · ZVF</a:t>
            </a:r>
          </a:p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length · advantage</a:t>
            </a:r>
          </a:p>
        </p:txBody>
      </p:sp>
      <p:sp>
        <p:nvSpPr>
          <p:cNvPr id="15" name="arch-node-3">
            <a:extLst xmlns:a="http://schemas.openxmlformats.org/drawingml/2006/main">
              <a:ext uri="{FF2B5EF4-FFF2-40B4-BE49-F238E27FC236}">
                <a16:creationId xmlns:a16="http://schemas.microsoft.com/office/drawing/2014/main" id="{5B93BA9F-6B8B-4CA2-8C78-371C538F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09750"/>
            <a:ext cx="21907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16" name="arch-node-title-3">
            <a:extLst xmlns:a="http://schemas.openxmlformats.org/drawingml/2006/main">
              <a:ext uri="{FF2B5EF4-FFF2-40B4-BE49-F238E27FC236}">
                <a16:creationId xmlns:a16="http://schemas.microsoft.com/office/drawing/2014/main" id="{D9D9AD9F-81DC-483C-B42C-7C6A202D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85975"/>
            <a:ext cx="1771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17" name="arch-node-body-3">
            <a:extLst xmlns:a="http://schemas.openxmlformats.org/drawingml/2006/main">
              <a:ext uri="{FF2B5EF4-FFF2-40B4-BE49-F238E27FC236}">
                <a16:creationId xmlns:a16="http://schemas.microsoft.com/office/drawing/2014/main" id="{F7F431D4-8ADA-4C6B-8589-50C58D40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86050"/>
            <a:ext cx="1771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JSON artifacts</a:t>
            </a:r>
          </a:p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figures · audits</a:t>
            </a:r>
          </a:p>
        </p:txBody>
      </p:sp>
      <p:sp>
        <p:nvSpPr>
          <p:cNvPr id="18" name="prov-inherited">
            <a:extLst xmlns:a="http://schemas.openxmlformats.org/drawingml/2006/main">
              <a:ext uri="{FF2B5EF4-FFF2-40B4-BE49-F238E27FC236}">
                <a16:creationId xmlns:a16="http://schemas.microsoft.com/office/drawing/2014/main" id="{0A4CB546-980C-4FAD-95F0-C745A80F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53340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E7F5FF"/>
          </a:solidFill>
        </p:spPr>
      </p:sp>
      <p:sp>
        <p:nvSpPr>
          <p:cNvPr id="19" name="prov-inherited-label">
            <a:extLst xmlns:a="http://schemas.openxmlformats.org/drawingml/2006/main">
              <a:ext uri="{FF2B5EF4-FFF2-40B4-BE49-F238E27FC236}">
                <a16:creationId xmlns:a16="http://schemas.microsoft.com/office/drawing/2014/main" id="{A63347BC-1ADE-4F00-81EE-2E0C3E6E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64AB"/>
                </a:solidFill>
                <a:latin typeface="Helvetica Neue"/>
                <a:ea typeface="Helvetica Neue"/>
                <a:cs typeface="Helvetica Neue"/>
              </a:defRPr>
            </a:pPr>
            <a:r>
              <a:t>INHERITED FOUNDATION</a:t>
            </a:r>
          </a:p>
        </p:txBody>
      </p:sp>
      <p:sp>
        <p:nvSpPr>
          <p:cNvPr id="20" name="prov-inherited-copy">
            <a:extLst xmlns:a="http://schemas.openxmlformats.org/drawingml/2006/main">
              <a:ext uri="{FF2B5EF4-FFF2-40B4-BE49-F238E27FC236}">
                <a16:creationId xmlns:a16="http://schemas.microsoft.com/office/drawing/2014/main" id="{22CD7111-1551-47C9-9762-0AC8B4B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83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Semester 3 Group 6 baseline: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GRPO infrastructure and earlier experiment archive</a:t>
            </a:r>
          </a:p>
        </p:txBody>
      </p:sp>
      <p:sp>
        <p:nvSpPr>
          <p:cNvPr id="21" name="prov-new">
            <a:extLst xmlns:a="http://schemas.openxmlformats.org/drawingml/2006/main">
              <a:ext uri="{FF2B5EF4-FFF2-40B4-BE49-F238E27FC236}">
                <a16:creationId xmlns:a16="http://schemas.microsoft.com/office/drawing/2014/main" id="{2C61B594-77E7-45BE-AA78-8CC49FB5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238625"/>
            <a:ext cx="5743575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22" name="prov-new-label">
            <a:extLst xmlns:a="http://schemas.openxmlformats.org/drawingml/2006/main">
              <a:ext uri="{FF2B5EF4-FFF2-40B4-BE49-F238E27FC236}">
                <a16:creationId xmlns:a16="http://schemas.microsoft.com/office/drawing/2014/main" id="{00BCB62B-CE36-4BFC-B2E2-2B370FA2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76750"/>
            <a:ext cx="514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SEMESTER 4 PHASE 1 ADDITIONS</a:t>
            </a:r>
          </a:p>
        </p:txBody>
      </p:sp>
      <p:sp>
        <p:nvSpPr>
          <p:cNvPr id="23" name="prov-new-copy">
            <a:extLst xmlns:a="http://schemas.openxmlformats.org/drawingml/2006/main">
              <a:ext uri="{FF2B5EF4-FFF2-40B4-BE49-F238E27FC236}">
                <a16:creationId xmlns:a16="http://schemas.microsoft.com/office/drawing/2014/main" id="{50E7B8D0-95D8-4308-8605-8D71DBFA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5775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ZVF framing, P1/P2/P3/P8 analyses,</a:t>
            </a:r>
          </a:p>
          <a:p xmlns:a="http://schemas.openxmlformats.org/drawingml/2006/main">
            <a:pPr>
              <a:defRPr sz="16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claim audit, reproducibility demo, thesis synthesis</a:t>
            </a:r>
          </a:p>
        </p:txBody>
      </p:sp>
      <p:sp>
        <p:nvSpPr>
          <p:cNvPr id="24" name="footer-source-5">
            <a:extLst xmlns:a="http://schemas.openxmlformats.org/drawingml/2006/main">
              <a:ext uri="{FF2B5EF4-FFF2-40B4-BE49-F238E27FC236}">
                <a16:creationId xmlns:a16="http://schemas.microsoft.com/office/drawing/2014/main" id="{85564B5A-6490-4EF7-A329-125DCD5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Semester boundary anchored to tag capstone-final-2026-04-25; attribution is explicit in the report.</a:t>
            </a:r>
          </a:p>
        </p:txBody>
      </p:sp>
      <p:sp>
        <p:nvSpPr>
          <p:cNvPr id="2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7DD7810-769B-4010-88EB-79ED542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59428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F509EF10-C0DF-45F1-91E1-95DDD44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METHOD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D1D59B7-7C06-4149-84CC-B130AD85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is layered by maturity and protocol</a:t>
            </a:r>
          </a:p>
        </p:txBody>
      </p:sp>
      <p:sp>
        <p:nvSpPr>
          <p:cNvPr id="3" name="method-cell-0-0">
            <a:extLst xmlns:a="http://schemas.openxmlformats.org/drawingml/2006/main">
              <a:ext uri="{FF2B5EF4-FFF2-40B4-BE49-F238E27FC236}">
                <a16:creationId xmlns:a16="http://schemas.microsoft.com/office/drawing/2014/main" id="{F00CD5DF-3CBE-4D8F-BBE3-676073BA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23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4" name="method-text-0-0">
            <a:extLst xmlns:a="http://schemas.openxmlformats.org/drawingml/2006/main">
              <a:ext uri="{FF2B5EF4-FFF2-40B4-BE49-F238E27FC236}">
                <a16:creationId xmlns:a16="http://schemas.microsoft.com/office/drawing/2014/main" id="{1C673973-2C1D-46F6-B9B5-30A1CB85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876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Study</a:t>
            </a:r>
          </a:p>
        </p:txBody>
      </p:sp>
      <p:sp>
        <p:nvSpPr>
          <p:cNvPr id="5" name="method-cell-0-1">
            <a:extLst xmlns:a="http://schemas.openxmlformats.org/drawingml/2006/main">
              <a:ext uri="{FF2B5EF4-FFF2-40B4-BE49-F238E27FC236}">
                <a16:creationId xmlns:a16="http://schemas.microsoft.com/office/drawing/2014/main" id="{66F927A9-4C8A-4345-B4ED-09A5364F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657350"/>
            <a:ext cx="38385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6" name="method-text-0-1">
            <a:extLst xmlns:a="http://schemas.openxmlformats.org/drawingml/2006/main">
              <a:ext uri="{FF2B5EF4-FFF2-40B4-BE49-F238E27FC236}">
                <a16:creationId xmlns:a16="http://schemas.microsoft.com/office/drawing/2014/main" id="{8CFC6F88-6FFA-4CE5-9E1B-CA7A4E37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81175"/>
            <a:ext cx="35909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</a:t>
            </a:r>
          </a:p>
        </p:txBody>
      </p:sp>
      <p:sp>
        <p:nvSpPr>
          <p:cNvPr id="7" name="method-cell-0-2">
            <a:extLst xmlns:a="http://schemas.openxmlformats.org/drawingml/2006/main">
              <a:ext uri="{FF2B5EF4-FFF2-40B4-BE49-F238E27FC236}">
                <a16:creationId xmlns:a16="http://schemas.microsoft.com/office/drawing/2014/main" id="{1C33047C-4664-4F0E-98C8-1BC8B98D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657350"/>
            <a:ext cx="3409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8" name="method-text-0-2">
            <a:extLst xmlns:a="http://schemas.openxmlformats.org/drawingml/2006/main">
              <a:ext uri="{FF2B5EF4-FFF2-40B4-BE49-F238E27FC236}">
                <a16:creationId xmlns:a16="http://schemas.microsoft.com/office/drawing/2014/main" id="{2C118BF5-C49A-4FC0-8530-84D14B0A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781175"/>
            <a:ext cx="3162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Artifact</a:t>
            </a:r>
          </a:p>
        </p:txBody>
      </p:sp>
      <p:sp>
        <p:nvSpPr>
          <p:cNvPr id="9" name="method-cell-0-3">
            <a:extLst xmlns:a="http://schemas.openxmlformats.org/drawingml/2006/main">
              <a:ext uri="{FF2B5EF4-FFF2-40B4-BE49-F238E27FC236}">
                <a16:creationId xmlns:a16="http://schemas.microsoft.com/office/drawing/2014/main" id="{30F40C7F-2E23-4971-A163-2FA71654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57350"/>
            <a:ext cx="2933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0" name="method-text-0-3">
            <a:extLst xmlns:a="http://schemas.openxmlformats.org/drawingml/2006/main">
              <a:ext uri="{FF2B5EF4-FFF2-40B4-BE49-F238E27FC236}">
                <a16:creationId xmlns:a16="http://schemas.microsoft.com/office/drawing/2014/main" id="{1979FB66-2658-4AA9-BD21-A025C3CF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81175"/>
            <a:ext cx="2686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Interpretation</a:t>
            </a:r>
          </a:p>
        </p:txBody>
      </p:sp>
      <p:sp>
        <p:nvSpPr>
          <p:cNvPr id="11" name="method-cell-1-0">
            <a:extLst xmlns:a="http://schemas.openxmlformats.org/drawingml/2006/main">
              <a:ext uri="{FF2B5EF4-FFF2-40B4-BE49-F238E27FC236}">
                <a16:creationId xmlns:a16="http://schemas.microsoft.com/office/drawing/2014/main" id="{29F91F92-C039-4752-895D-DCF13A2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12" name="method-text-1-0">
            <a:extLst xmlns:a="http://schemas.openxmlformats.org/drawingml/2006/main">
              <a:ext uri="{FF2B5EF4-FFF2-40B4-BE49-F238E27FC236}">
                <a16:creationId xmlns:a16="http://schemas.microsoft.com/office/drawing/2014/main" id="{D5B5B84F-C093-4596-B88D-0097F6E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87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P2</a:t>
            </a:r>
          </a:p>
        </p:txBody>
      </p:sp>
      <p:sp>
        <p:nvSpPr>
          <p:cNvPr id="13" name="method-cell-1-1">
            <a:extLst xmlns:a="http://schemas.openxmlformats.org/drawingml/2006/main">
              <a:ext uri="{FF2B5EF4-FFF2-40B4-BE49-F238E27FC236}">
                <a16:creationId xmlns:a16="http://schemas.microsoft.com/office/drawing/2014/main" id="{802ABF56-A05A-4031-929F-8649E409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33650"/>
            <a:ext cx="383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14" name="method-text-1-1">
            <a:extLst xmlns:a="http://schemas.openxmlformats.org/drawingml/2006/main">
              <a:ext uri="{FF2B5EF4-FFF2-40B4-BE49-F238E27FC236}">
                <a16:creationId xmlns:a16="http://schemas.microsoft.com/office/drawing/2014/main" id="{9FED9C59-9931-441D-AD3A-4844799E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57475"/>
            <a:ext cx="35909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40 steps · GSM8K · 4 method traces · seed 0</a:t>
            </a:r>
          </a:p>
        </p:txBody>
      </p:sp>
      <p:sp>
        <p:nvSpPr>
          <p:cNvPr id="15" name="method-cell-1-2">
            <a:extLst xmlns:a="http://schemas.openxmlformats.org/drawingml/2006/main">
              <a:ext uri="{FF2B5EF4-FFF2-40B4-BE49-F238E27FC236}">
                <a16:creationId xmlns:a16="http://schemas.microsoft.com/office/drawing/2014/main" id="{71B585F0-D8CD-4A07-8D60-F0D1C0D2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33650"/>
            <a:ext cx="3409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16" name="method-text-1-2">
            <a:extLst xmlns:a="http://schemas.openxmlformats.org/drawingml/2006/main">
              <a:ext uri="{FF2B5EF4-FFF2-40B4-BE49-F238E27FC236}">
                <a16:creationId xmlns:a16="http://schemas.microsoft.com/office/drawing/2014/main" id="{8DD47BDC-0DF8-47A7-8565-DE2E85EF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657475"/>
            <a:ext cx="3162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collapse_baseline_analysis.json</a:t>
            </a:r>
          </a:p>
        </p:txBody>
      </p:sp>
      <p:sp>
        <p:nvSpPr>
          <p:cNvPr id="17" name="method-cell-1-3">
            <a:extLst xmlns:a="http://schemas.openxmlformats.org/drawingml/2006/main">
              <a:ext uri="{FF2B5EF4-FFF2-40B4-BE49-F238E27FC236}">
                <a16:creationId xmlns:a16="http://schemas.microsoft.com/office/drawing/2014/main" id="{6120EB30-4A5F-4B76-9BE9-737F8364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533650"/>
            <a:ext cx="2933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18" name="method-text-1-3">
            <a:extLst xmlns:a="http://schemas.openxmlformats.org/drawingml/2006/main">
              <a:ext uri="{FF2B5EF4-FFF2-40B4-BE49-F238E27FC236}">
                <a16:creationId xmlns:a16="http://schemas.microsoft.com/office/drawing/2014/main" id="{12A070CC-DC40-4553-B4B5-98A14226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57475"/>
            <a:ext cx="2686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Fixed-schedule diagnostic</a:t>
            </a:r>
          </a:p>
        </p:txBody>
      </p:sp>
      <p:sp>
        <p:nvSpPr>
          <p:cNvPr id="19" name="method-cell-2-0">
            <a:extLst xmlns:a="http://schemas.openxmlformats.org/drawingml/2006/main">
              <a:ext uri="{FF2B5EF4-FFF2-40B4-BE49-F238E27FC236}">
                <a16:creationId xmlns:a16="http://schemas.microsoft.com/office/drawing/2014/main" id="{9BD36539-09EC-4087-A86F-616979E0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20" name="method-text-2-0">
            <a:extLst xmlns:a="http://schemas.openxmlformats.org/drawingml/2006/main">
              <a:ext uri="{FF2B5EF4-FFF2-40B4-BE49-F238E27FC236}">
                <a16:creationId xmlns:a16="http://schemas.microsoft.com/office/drawing/2014/main" id="{1215E807-1F12-4740-8945-61B5310D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87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Token budget</a:t>
            </a:r>
          </a:p>
        </p:txBody>
      </p:sp>
      <p:sp>
        <p:nvSpPr>
          <p:cNvPr id="21" name="method-cell-2-1">
            <a:extLst xmlns:a="http://schemas.openxmlformats.org/drawingml/2006/main">
              <a:ext uri="{FF2B5EF4-FFF2-40B4-BE49-F238E27FC236}">
                <a16:creationId xmlns:a16="http://schemas.microsoft.com/office/drawing/2014/main" id="{10C31846-3A2B-4A01-9FAD-17FD9CE2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383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22" name="method-text-2-1">
            <a:extLst xmlns:a="http://schemas.openxmlformats.org/drawingml/2006/main">
              <a:ext uri="{FF2B5EF4-FFF2-40B4-BE49-F238E27FC236}">
                <a16:creationId xmlns:a16="http://schemas.microsoft.com/office/drawing/2014/main" id="{33AAF50E-B26C-4392-BA64-78D11A7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33775"/>
            <a:ext cx="35909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30k tokens · 3 seeds · baseline vs curriculum</a:t>
            </a:r>
          </a:p>
        </p:txBody>
      </p:sp>
      <p:sp>
        <p:nvSpPr>
          <p:cNvPr id="23" name="method-cell-2-2">
            <a:extLst xmlns:a="http://schemas.openxmlformats.org/drawingml/2006/main">
              <a:ext uri="{FF2B5EF4-FFF2-40B4-BE49-F238E27FC236}">
                <a16:creationId xmlns:a16="http://schemas.microsoft.com/office/drawing/2014/main" id="{CCAB65F7-A78A-4D0C-BBBD-F0C477C3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09950"/>
            <a:ext cx="3409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24" name="method-text-2-2">
            <a:extLst xmlns:a="http://schemas.openxmlformats.org/drawingml/2006/main">
              <a:ext uri="{FF2B5EF4-FFF2-40B4-BE49-F238E27FC236}">
                <a16:creationId xmlns:a16="http://schemas.microsoft.com/office/drawing/2014/main" id="{14767F18-17F5-402A-ACE4-2E966915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533775"/>
            <a:ext cx="3162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token_budget/results.json</a:t>
            </a:r>
          </a:p>
        </p:txBody>
      </p:sp>
      <p:sp>
        <p:nvSpPr>
          <p:cNvPr id="25" name="method-cell-2-3">
            <a:extLst xmlns:a="http://schemas.openxmlformats.org/drawingml/2006/main">
              <a:ext uri="{FF2B5EF4-FFF2-40B4-BE49-F238E27FC236}">
                <a16:creationId xmlns:a16="http://schemas.microsoft.com/office/drawing/2014/main" id="{ED278EDA-0859-4B63-9A1E-9E59816F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09950"/>
            <a:ext cx="2933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26" name="method-text-2-3">
            <a:extLst xmlns:a="http://schemas.openxmlformats.org/drawingml/2006/main">
              <a:ext uri="{FF2B5EF4-FFF2-40B4-BE49-F238E27FC236}">
                <a16:creationId xmlns:a16="http://schemas.microsoft.com/office/drawing/2014/main" id="{8DA67168-B698-4D64-808C-75059D19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33775"/>
            <a:ext cx="2686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Matched-budget null result</a:t>
            </a:r>
          </a:p>
        </p:txBody>
      </p:sp>
      <p:sp>
        <p:nvSpPr>
          <p:cNvPr id="27" name="method-cell-3-0">
            <a:extLst xmlns:a="http://schemas.openxmlformats.org/drawingml/2006/main">
              <a:ext uri="{FF2B5EF4-FFF2-40B4-BE49-F238E27FC236}">
                <a16:creationId xmlns:a16="http://schemas.microsoft.com/office/drawing/2014/main" id="{CAEE1B7D-89FA-4FE6-8B09-D7065D77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862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28" name="method-text-3-0">
            <a:extLst xmlns:a="http://schemas.openxmlformats.org/drawingml/2006/main">
              <a:ext uri="{FF2B5EF4-FFF2-40B4-BE49-F238E27FC236}">
                <a16:creationId xmlns:a16="http://schemas.microsoft.com/office/drawing/2014/main" id="{AC19CBEF-B9A0-4FE6-9288-E0DBB604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0075"/>
            <a:ext cx="87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P1</a:t>
            </a:r>
          </a:p>
        </p:txBody>
      </p:sp>
      <p:sp>
        <p:nvSpPr>
          <p:cNvPr id="29" name="method-cell-3-1">
            <a:extLst xmlns:a="http://schemas.openxmlformats.org/drawingml/2006/main">
              <a:ext uri="{FF2B5EF4-FFF2-40B4-BE49-F238E27FC236}">
                <a16:creationId xmlns:a16="http://schemas.microsoft.com/office/drawing/2014/main" id="{F10442FE-2EF1-4F0B-B349-05C17E0A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383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30" name="method-text-3-1">
            <a:extLst xmlns:a="http://schemas.openxmlformats.org/drawingml/2006/main">
              <a:ext uri="{FF2B5EF4-FFF2-40B4-BE49-F238E27FC236}">
                <a16:creationId xmlns:a16="http://schemas.microsoft.com/office/drawing/2014/main" id="{FB0E72BE-42CF-4A8F-BD72-5FDA4E6D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10075"/>
            <a:ext cx="35909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Qwen2.5-3B · 24 problems · 4 seeds</a:t>
            </a:r>
          </a:p>
        </p:txBody>
      </p:sp>
      <p:sp>
        <p:nvSpPr>
          <p:cNvPr id="31" name="method-cell-3-2">
            <a:extLst xmlns:a="http://schemas.openxmlformats.org/drawingml/2006/main">
              <a:ext uri="{FF2B5EF4-FFF2-40B4-BE49-F238E27FC236}">
                <a16:creationId xmlns:a16="http://schemas.microsoft.com/office/drawing/2014/main" id="{8A8DCCE2-5916-4F72-BBDF-DE1FFE44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286250"/>
            <a:ext cx="3409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32" name="method-text-3-2">
            <a:extLst xmlns:a="http://schemas.openxmlformats.org/drawingml/2006/main">
              <a:ext uri="{FF2B5EF4-FFF2-40B4-BE49-F238E27FC236}">
                <a16:creationId xmlns:a16="http://schemas.microsoft.com/office/drawing/2014/main" id="{3D4C8C89-2479-42C7-AA6B-D1682ED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10075"/>
            <a:ext cx="3162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scaled_4seed_result.json</a:t>
            </a:r>
          </a:p>
        </p:txBody>
      </p:sp>
      <p:sp>
        <p:nvSpPr>
          <p:cNvPr id="33" name="method-cell-3-3">
            <a:extLst xmlns:a="http://schemas.openxmlformats.org/drawingml/2006/main">
              <a:ext uri="{FF2B5EF4-FFF2-40B4-BE49-F238E27FC236}">
                <a16:creationId xmlns:a16="http://schemas.microsoft.com/office/drawing/2014/main" id="{A4B60495-4D36-4BAD-AE7D-539DDD15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86250"/>
            <a:ext cx="2933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7"/>
          </a:solidFill>
        </p:spPr>
      </p:sp>
      <p:sp>
        <p:nvSpPr>
          <p:cNvPr id="34" name="method-text-3-3">
            <a:extLst xmlns:a="http://schemas.openxmlformats.org/drawingml/2006/main">
              <a:ext uri="{FF2B5EF4-FFF2-40B4-BE49-F238E27FC236}">
                <a16:creationId xmlns:a16="http://schemas.microsoft.com/office/drawing/2014/main" id="{11E46AA8-4017-4E89-846D-3238D509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410075"/>
            <a:ext cx="2686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Scaled verification</a:t>
            </a:r>
          </a:p>
        </p:txBody>
      </p:sp>
      <p:sp>
        <p:nvSpPr>
          <p:cNvPr id="35" name="method-cell-4-0">
            <a:extLst xmlns:a="http://schemas.openxmlformats.org/drawingml/2006/main">
              <a:ext uri="{FF2B5EF4-FFF2-40B4-BE49-F238E27FC236}">
                <a16:creationId xmlns:a16="http://schemas.microsoft.com/office/drawing/2014/main" id="{27E2D6F1-C98F-41C6-807B-9CC567E1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36" name="method-text-4-0">
            <a:extLst xmlns:a="http://schemas.openxmlformats.org/drawingml/2006/main">
              <a:ext uri="{FF2B5EF4-FFF2-40B4-BE49-F238E27FC236}">
                <a16:creationId xmlns:a16="http://schemas.microsoft.com/office/drawing/2014/main" id="{5E7A5F0C-0DEE-4088-8CA6-7AF45DC0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87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P8</a:t>
            </a:r>
          </a:p>
        </p:txBody>
      </p:sp>
      <p:sp>
        <p:nvSpPr>
          <p:cNvPr id="37" name="method-cell-4-1">
            <a:extLst xmlns:a="http://schemas.openxmlformats.org/drawingml/2006/main">
              <a:ext uri="{FF2B5EF4-FFF2-40B4-BE49-F238E27FC236}">
                <a16:creationId xmlns:a16="http://schemas.microsoft.com/office/drawing/2014/main" id="{2959B71D-B25C-4214-8D54-9DBE1C1A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162550"/>
            <a:ext cx="383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38" name="method-text-4-1">
            <a:extLst xmlns:a="http://schemas.openxmlformats.org/drawingml/2006/main">
              <a:ext uri="{FF2B5EF4-FFF2-40B4-BE49-F238E27FC236}">
                <a16:creationId xmlns:a16="http://schemas.microsoft.com/office/drawing/2014/main" id="{2D1A98D7-D37F-4091-8C0F-20B2CABF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86375"/>
            <a:ext cx="35909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160 trace rows · 5 CV seeds</a:t>
            </a:r>
          </a:p>
        </p:txBody>
      </p:sp>
      <p:sp>
        <p:nvSpPr>
          <p:cNvPr id="39" name="method-cell-4-2">
            <a:extLst xmlns:a="http://schemas.openxmlformats.org/drawingml/2006/main">
              <a:ext uri="{FF2B5EF4-FFF2-40B4-BE49-F238E27FC236}">
                <a16:creationId xmlns:a16="http://schemas.microsoft.com/office/drawing/2014/main" id="{979B2ECA-4ACF-4897-BB33-A934C6F8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162550"/>
            <a:ext cx="3409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40" name="method-text-4-2">
            <a:extLst xmlns:a="http://schemas.openxmlformats.org/drawingml/2006/main">
              <a:ext uri="{FF2B5EF4-FFF2-40B4-BE49-F238E27FC236}">
                <a16:creationId xmlns:a16="http://schemas.microsoft.com/office/drawing/2014/main" id="{D337CDD7-9803-47FD-8C04-03C678A5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286375"/>
            <a:ext cx="3162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detector_reproduced.json</a:t>
            </a:r>
          </a:p>
        </p:txBody>
      </p:sp>
      <p:sp>
        <p:nvSpPr>
          <p:cNvPr id="41" name="method-cell-4-3">
            <a:extLst xmlns:a="http://schemas.openxmlformats.org/drawingml/2006/main">
              <a:ext uri="{FF2B5EF4-FFF2-40B4-BE49-F238E27FC236}">
                <a16:creationId xmlns:a16="http://schemas.microsoft.com/office/drawing/2014/main" id="{46A558E9-2C9F-43DC-9F6B-61F9A46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162550"/>
            <a:ext cx="2933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42" name="method-text-4-3">
            <a:extLst xmlns:a="http://schemas.openxmlformats.org/drawingml/2006/main">
              <a:ext uri="{FF2B5EF4-FFF2-40B4-BE49-F238E27FC236}">
                <a16:creationId xmlns:a16="http://schemas.microsoft.com/office/drawing/2014/main" id="{9BF82D49-A679-42A8-908F-0AA4C2B5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286375"/>
            <a:ext cx="2686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Proof-of-concept classifier</a:t>
            </a:r>
          </a:p>
        </p:txBody>
      </p:sp>
      <p:sp>
        <p:nvSpPr>
          <p:cNvPr id="43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52647359-34A8-4B80-8C8B-409B6B9C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All headline values in this deck are linked to repository artifacts; disputed historical campaign aggregates are excluded.</a:t>
            </a:r>
          </a:p>
        </p:txBody>
      </p:sp>
      <p:sp>
        <p:nvSpPr>
          <p:cNvPr id="44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72E92DC9-FC45-47F5-B993-26AAF325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3784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17D31882-9941-4E2A-8810-94806BA0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HEADLINE RESULT · P2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B813057-E387-41FF-8F6A-104B2F7B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About 71–77% of sampled groups were zero-advantage</a:t>
            </a:r>
          </a:p>
        </p:txBody>
      </p:sp>
      <p:sp>
        <p:nvSpPr>
          <p:cNvPr id="3" name="p2-chart-bg">
            <a:extLst xmlns:a="http://schemas.openxmlformats.org/drawingml/2006/main">
              <a:ext uri="{FF2B5EF4-FFF2-40B4-BE49-F238E27FC236}">
                <a16:creationId xmlns:a16="http://schemas.microsoft.com/office/drawing/2014/main" id="{12815E71-6AA3-4F04-8B66-6701A07D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76275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8F8F7"/>
          </a:solidFill>
        </p:spPr>
      </p:sp>
      <p:sp>
        <p:nvSpPr>
          <p:cNvPr id="4" name="p2-grid-0">
            <a:extLst xmlns:a="http://schemas.openxmlformats.org/drawingml/2006/main">
              <a:ext uri="{FF2B5EF4-FFF2-40B4-BE49-F238E27FC236}">
                <a16:creationId xmlns:a16="http://schemas.microsoft.com/office/drawing/2014/main" id="{D82A5A6A-E739-4DB2-AB2A-6EB283F2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3875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C"/>
          </a:solidFill>
        </p:spPr>
      </p:sp>
      <p:sp>
        <p:nvSpPr>
          <p:cNvPr id="5" name="p2-tick-0">
            <a:extLst xmlns:a="http://schemas.openxmlformats.org/drawingml/2006/main">
              <a:ext uri="{FF2B5EF4-FFF2-40B4-BE49-F238E27FC236}">
                <a16:creationId xmlns:a16="http://schemas.microsoft.com/office/drawing/2014/main" id="{2B7FA95E-7811-4D6A-AA60-AFF597F6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0%</a:t>
            </a:r>
          </a:p>
        </p:txBody>
      </p:sp>
      <p:sp>
        <p:nvSpPr>
          <p:cNvPr id="6" name="p2-grid-1">
            <a:extLst xmlns:a="http://schemas.openxmlformats.org/drawingml/2006/main">
              <a:ext uri="{FF2B5EF4-FFF2-40B4-BE49-F238E27FC236}">
                <a16:creationId xmlns:a16="http://schemas.microsoft.com/office/drawing/2014/main" id="{3B258A78-401E-45B0-BC35-C5B121E7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52938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C"/>
          </a:solidFill>
        </p:spPr>
      </p:sp>
      <p:sp>
        <p:nvSpPr>
          <p:cNvPr id="7" name="p2-tick-1">
            <a:extLst xmlns:a="http://schemas.openxmlformats.org/drawingml/2006/main">
              <a:ext uri="{FF2B5EF4-FFF2-40B4-BE49-F238E27FC236}">
                <a16:creationId xmlns:a16="http://schemas.microsoft.com/office/drawing/2014/main" id="{CC9D24AC-81F6-4468-97D6-FD1497C4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9588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25%</a:t>
            </a:r>
          </a:p>
        </p:txBody>
      </p:sp>
      <p:sp>
        <p:nvSpPr>
          <p:cNvPr id="8" name="p2-grid-2">
            <a:extLst xmlns:a="http://schemas.openxmlformats.org/drawingml/2006/main">
              <a:ext uri="{FF2B5EF4-FFF2-40B4-BE49-F238E27FC236}">
                <a16:creationId xmlns:a16="http://schemas.microsoft.com/office/drawing/2014/main" id="{7AE5FE03-7DCE-4D4E-9E5D-C3E65124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C"/>
          </a:solidFill>
        </p:spPr>
      </p:sp>
      <p:sp>
        <p:nvSpPr>
          <p:cNvPr id="9" name="p2-tick-2">
            <a:extLst xmlns:a="http://schemas.openxmlformats.org/drawingml/2006/main">
              <a:ext uri="{FF2B5EF4-FFF2-40B4-BE49-F238E27FC236}">
                <a16:creationId xmlns:a16="http://schemas.microsoft.com/office/drawing/2014/main" id="{C5BD9BAE-9FDE-4C74-91D9-E00D8637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50%</a:t>
            </a:r>
          </a:p>
        </p:txBody>
      </p:sp>
      <p:sp>
        <p:nvSpPr>
          <p:cNvPr id="10" name="p2-grid-3">
            <a:extLst xmlns:a="http://schemas.openxmlformats.org/drawingml/2006/main">
              <a:ext uri="{FF2B5EF4-FFF2-40B4-BE49-F238E27FC236}">
                <a16:creationId xmlns:a16="http://schemas.microsoft.com/office/drawing/2014/main" id="{D112CC4C-73F5-4B74-BC32-D4167BBB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1313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C"/>
          </a:solidFill>
        </p:spPr>
      </p:sp>
      <p:sp>
        <p:nvSpPr>
          <p:cNvPr id="11" name="p2-tick-3">
            <a:extLst xmlns:a="http://schemas.openxmlformats.org/drawingml/2006/main">
              <a:ext uri="{FF2B5EF4-FFF2-40B4-BE49-F238E27FC236}">
                <a16:creationId xmlns:a16="http://schemas.microsoft.com/office/drawing/2014/main" id="{C5B05D16-D208-44A6-9070-19623288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7963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75%</a:t>
            </a:r>
          </a:p>
        </p:txBody>
      </p:sp>
      <p:sp>
        <p:nvSpPr>
          <p:cNvPr id="12" name="p2-grid-4">
            <a:extLst xmlns:a="http://schemas.openxmlformats.org/drawingml/2006/main">
              <a:ext uri="{FF2B5EF4-FFF2-40B4-BE49-F238E27FC236}">
                <a16:creationId xmlns:a16="http://schemas.microsoft.com/office/drawing/2014/main" id="{76247A98-5E66-4672-AFC1-4D15771E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5429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7DC"/>
          </a:solidFill>
        </p:spPr>
      </p:sp>
      <p:sp>
        <p:nvSpPr>
          <p:cNvPr id="13" name="p2-tick-4">
            <a:extLst xmlns:a="http://schemas.openxmlformats.org/drawingml/2006/main">
              <a:ext uri="{FF2B5EF4-FFF2-40B4-BE49-F238E27FC236}">
                <a16:creationId xmlns:a16="http://schemas.microsoft.com/office/drawing/2014/main" id="{F7C5AB36-2696-46A4-AFBC-3D6A4A28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100%</a:t>
            </a:r>
          </a:p>
        </p:txBody>
      </p:sp>
      <p:sp>
        <p:nvSpPr>
          <p:cNvPr id="14" name="p2-bar-0">
            <a:extLst xmlns:a="http://schemas.openxmlformats.org/drawingml/2006/main">
              <a:ext uri="{FF2B5EF4-FFF2-40B4-BE49-F238E27FC236}">
                <a16:creationId xmlns:a16="http://schemas.microsoft.com/office/drawing/2014/main" id="{D38C8C8D-3260-4538-A2E4-54C94A04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5610"/>
            <a:ext cx="723900" cy="2263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5" name="p2-value-0">
            <a:extLst xmlns:a="http://schemas.openxmlformats.org/drawingml/2006/main">
              <a:ext uri="{FF2B5EF4-FFF2-40B4-BE49-F238E27FC236}">
                <a16:creationId xmlns:a16="http://schemas.microsoft.com/office/drawing/2014/main" id="{0C0EC022-AAE6-45CF-BA04-F4A3AFD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986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72.0%</a:t>
            </a:r>
          </a:p>
        </p:txBody>
      </p:sp>
      <p:sp>
        <p:nvSpPr>
          <p:cNvPr id="16" name="p2-label-0">
            <a:extLst xmlns:a="http://schemas.openxmlformats.org/drawingml/2006/main">
              <a:ext uri="{FF2B5EF4-FFF2-40B4-BE49-F238E27FC236}">
                <a16:creationId xmlns:a16="http://schemas.microsoft.com/office/drawing/2014/main" id="{C8826725-BF51-4B97-AF44-A389C7DE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721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AERO</a:t>
            </a:r>
          </a:p>
        </p:txBody>
      </p:sp>
      <p:sp>
        <p:nvSpPr>
          <p:cNvPr id="17" name="p2-bar-1">
            <a:extLst xmlns:a="http://schemas.openxmlformats.org/drawingml/2006/main">
              <a:ext uri="{FF2B5EF4-FFF2-40B4-BE49-F238E27FC236}">
                <a16:creationId xmlns:a16="http://schemas.microsoft.com/office/drawing/2014/main" id="{DBC6362D-5ABE-40AF-82A1-772712B9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19616"/>
            <a:ext cx="723900" cy="22191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8" name="p2-value-1">
            <a:extLst xmlns:a="http://schemas.openxmlformats.org/drawingml/2006/main">
              <a:ext uri="{FF2B5EF4-FFF2-40B4-BE49-F238E27FC236}">
                <a16:creationId xmlns:a16="http://schemas.microsoft.com/office/drawing/2014/main" id="{ACF7E0C8-0DDF-45B1-8511-A8BF3FE7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33866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70.6%</a:t>
            </a:r>
          </a:p>
        </p:txBody>
      </p:sp>
      <p:sp>
        <p:nvSpPr>
          <p:cNvPr id="19" name="p2-label-1">
            <a:extLst xmlns:a="http://schemas.openxmlformats.org/drawingml/2006/main">
              <a:ext uri="{FF2B5EF4-FFF2-40B4-BE49-F238E27FC236}">
                <a16:creationId xmlns:a16="http://schemas.microsoft.com/office/drawing/2014/main" id="{68D4E6DE-EDC4-48AC-A1FA-933F1A1A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721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AREAL</a:t>
            </a:r>
          </a:p>
        </p:txBody>
      </p:sp>
      <p:sp>
        <p:nvSpPr>
          <p:cNvPr id="20" name="p2-bar-2">
            <a:extLst xmlns:a="http://schemas.openxmlformats.org/drawingml/2006/main">
              <a:ext uri="{FF2B5EF4-FFF2-40B4-BE49-F238E27FC236}">
                <a16:creationId xmlns:a16="http://schemas.microsoft.com/office/drawing/2014/main" id="{B8665B00-B3F6-40AF-A144-82AA75F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8448"/>
            <a:ext cx="723900" cy="24203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1" name="p2-value-2">
            <a:extLst xmlns:a="http://schemas.openxmlformats.org/drawingml/2006/main">
              <a:ext uri="{FF2B5EF4-FFF2-40B4-BE49-F238E27FC236}">
                <a16:creationId xmlns:a16="http://schemas.microsoft.com/office/drawing/2014/main" id="{6B0E688A-682D-45C6-B8F5-369D0567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32698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77.0%</a:t>
            </a:r>
          </a:p>
        </p:txBody>
      </p:sp>
      <p:sp>
        <p:nvSpPr>
          <p:cNvPr id="22" name="p2-label-2">
            <a:extLst xmlns:a="http://schemas.openxmlformats.org/drawingml/2006/main">
              <a:ext uri="{FF2B5EF4-FFF2-40B4-BE49-F238E27FC236}">
                <a16:creationId xmlns:a16="http://schemas.microsoft.com/office/drawing/2014/main" id="{F19DC43D-0287-44B4-AB40-F793162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721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GIFT</a:t>
            </a:r>
          </a:p>
        </p:txBody>
      </p:sp>
      <p:sp>
        <p:nvSpPr>
          <p:cNvPr id="23" name="p2-bar-3">
            <a:extLst xmlns:a="http://schemas.openxmlformats.org/drawingml/2006/main">
              <a:ext uri="{FF2B5EF4-FFF2-40B4-BE49-F238E27FC236}">
                <a16:creationId xmlns:a16="http://schemas.microsoft.com/office/drawing/2014/main" id="{63E7FDC5-D3C7-45F6-A5C8-65D9988A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975610"/>
            <a:ext cx="723900" cy="22631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24" name="p2-value-3">
            <a:extLst xmlns:a="http://schemas.openxmlformats.org/drawingml/2006/main">
              <a:ext uri="{FF2B5EF4-FFF2-40B4-BE49-F238E27FC236}">
                <a16:creationId xmlns:a16="http://schemas.microsoft.com/office/drawing/2014/main" id="{CB0E49AE-4968-4EFD-B2BD-7A63657A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689860"/>
            <a:ext cx="91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72.0%</a:t>
            </a:r>
          </a:p>
        </p:txBody>
      </p:sp>
      <p:sp>
        <p:nvSpPr>
          <p:cNvPr id="25" name="p2-label-3">
            <a:extLst xmlns:a="http://schemas.openxmlformats.org/drawingml/2006/main">
              <a:ext uri="{FF2B5EF4-FFF2-40B4-BE49-F238E27FC236}">
                <a16:creationId xmlns:a16="http://schemas.microsoft.com/office/drawing/2014/main" id="{A74E8F2A-6552-4058-B358-0DBC3847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372100"/>
            <a:ext cx="1066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GRPO</a:t>
            </a:r>
          </a:p>
        </p:txBody>
      </p:sp>
      <p:sp>
        <p:nvSpPr>
          <p:cNvPr id="26" name="p2-callout">
            <a:extLst xmlns:a="http://schemas.openxmlformats.org/drawingml/2006/main">
              <a:ext uri="{FF2B5EF4-FFF2-40B4-BE49-F238E27FC236}">
                <a16:creationId xmlns:a16="http://schemas.microsoft.com/office/drawing/2014/main" id="{2CC9DC42-B544-4347-9527-3C907000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676400"/>
            <a:ext cx="421957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27" name="p2-callout-stat">
            <a:extLst xmlns:a="http://schemas.openxmlformats.org/drawingml/2006/main">
              <a:ext uri="{FF2B5EF4-FFF2-40B4-BE49-F238E27FC236}">
                <a16:creationId xmlns:a16="http://schemas.microsoft.com/office/drawing/2014/main" id="{89B79172-19CB-4B70-98D3-A2DB4160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90725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0.706–0.770</a:t>
            </a:r>
          </a:p>
        </p:txBody>
      </p:sp>
      <p:sp>
        <p:nvSpPr>
          <p:cNvPr id="28" name="p2-callout-label">
            <a:extLst xmlns:a="http://schemas.openxmlformats.org/drawingml/2006/main">
              <a:ext uri="{FF2B5EF4-FFF2-40B4-BE49-F238E27FC236}">
                <a16:creationId xmlns:a16="http://schemas.microsoft.com/office/drawing/2014/main" id="{626AD61E-F739-4B50-A48C-EE590FEE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333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D3D6DA"/>
                </a:solidFill>
                <a:latin typeface="Helvetica Neue"/>
                <a:ea typeface="Helvetica Neue"/>
                <a:cs typeface="Helvetica Neue"/>
              </a:defRPr>
            </a:pPr>
            <a:r>
              <a:t>mean ZVF across four method traces</a:t>
            </a:r>
          </a:p>
        </p:txBody>
      </p:sp>
      <p:sp>
        <p:nvSpPr>
          <p:cNvPr id="29" name="p2-note">
            <a:extLst xmlns:a="http://schemas.openxmlformats.org/drawingml/2006/main">
              <a:ext uri="{FF2B5EF4-FFF2-40B4-BE49-F238E27FC236}">
                <a16:creationId xmlns:a16="http://schemas.microsoft.com/office/drawing/2014/main" id="{B5BD15A1-BCF8-4E28-8B93-D8B1CB80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05250"/>
            <a:ext cx="4219575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30" name="p2-note-copy">
            <a:extLst xmlns:a="http://schemas.openxmlformats.org/drawingml/2006/main">
              <a:ext uri="{FF2B5EF4-FFF2-40B4-BE49-F238E27FC236}">
                <a16:creationId xmlns:a16="http://schemas.microsoft.com/office/drawing/2014/main" id="{CE43B3A6-DF0C-4B40-B4BE-FEBCCD24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71950"/>
            <a:ext cx="361950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Interpretation</a:t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5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Sampling collapse was common under the shared seed-0 schedule. This diagnoses inefficiency; it does not establish a ranking between algorithms.</a:t>
            </a:r>
          </a:p>
        </p:txBody>
      </p:sp>
      <p:sp>
        <p:nvSpPr>
          <p:cNvPr id="31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C6C90B28-FB92-43D0-BDB0-176289C1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experiments/results/p2_openings/collapse_baseline_analysis.json; 40-step fixed schedule, seed 0.</a:t>
            </a:r>
          </a:p>
        </p:txBody>
      </p:sp>
      <p:sp>
        <p:nvSpPr>
          <p:cNvPr id="32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F9A8DDD5-8A45-4424-8BDD-6FE2C2E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23566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9AE0E3ED-DCD9-41FD-AB92-DA78AD8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INTERVENTIONS · P3 AND MATCHED-TOKEN CURRICULUM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4E4CF2B-785E-4E97-A650-86349D28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simple interventions did not produce a reliable advantage</a:t>
            </a:r>
          </a:p>
        </p:txBody>
      </p:sp>
      <p:sp>
        <p:nvSpPr>
          <p:cNvPr id="3" name="int-baseline">
            <a:extLst xmlns:a="http://schemas.openxmlformats.org/drawingml/2006/main">
              <a:ext uri="{FF2B5EF4-FFF2-40B4-BE49-F238E27FC236}">
                <a16:creationId xmlns:a16="http://schemas.microsoft.com/office/drawing/2014/main" id="{B1D8B4CF-EE71-480C-ACE4-B802C6A2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429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4" name="int-curriculum">
            <a:extLst xmlns:a="http://schemas.openxmlformats.org/drawingml/2006/main">
              <a:ext uri="{FF2B5EF4-FFF2-40B4-BE49-F238E27FC236}">
                <a16:creationId xmlns:a16="http://schemas.microsoft.com/office/drawing/2014/main" id="{927EC41F-5D1A-4B24-86D6-C50E82B8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52625"/>
            <a:ext cx="3429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5" name="int-groupsize">
            <a:extLst xmlns:a="http://schemas.openxmlformats.org/drawingml/2006/main">
              <a:ext uri="{FF2B5EF4-FFF2-40B4-BE49-F238E27FC236}">
                <a16:creationId xmlns:a16="http://schemas.microsoft.com/office/drawing/2014/main" id="{CB95BD14-15F8-4285-8EA5-8223F4D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52625"/>
            <a:ext cx="3429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8F8F7"/>
          </a:solidFill>
          <a:ln xmlns:a="http://schemas.openxmlformats.org/drawingml/2006/main" w="11430">
            <a:solidFill>
              <a:srgbClr val="D4D7DC"/>
            </a:solidFill>
            <a:prstDash val="solid"/>
          </a:ln>
        </p:spPr>
      </p:sp>
      <p:sp>
        <p:nvSpPr>
          <p:cNvPr id="6" name="int-b-title">
            <a:extLst xmlns:a="http://schemas.openxmlformats.org/drawingml/2006/main">
              <a:ext uri="{FF2B5EF4-FFF2-40B4-BE49-F238E27FC236}">
                <a16:creationId xmlns:a16="http://schemas.microsoft.com/office/drawing/2014/main" id="{5B1399FB-7F6F-495C-93A3-0A5D50B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</a:t>
            </a:r>
          </a:p>
        </p:txBody>
      </p:sp>
      <p:sp>
        <p:nvSpPr>
          <p:cNvPr id="7" name="int-b-stat">
            <a:extLst xmlns:a="http://schemas.openxmlformats.org/drawingml/2006/main">
              <a:ext uri="{FF2B5EF4-FFF2-40B4-BE49-F238E27FC236}">
                <a16:creationId xmlns:a16="http://schemas.microsoft.com/office/drawing/2014/main" id="{8277CAEB-23AA-496B-8A47-CD47EBCF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+0.028</a:t>
            </a:r>
          </a:p>
        </p:txBody>
      </p:sp>
      <p:sp>
        <p:nvSpPr>
          <p:cNvPr id="8" name="int-b-copy">
            <a:extLst xmlns:a="http://schemas.openxmlformats.org/drawingml/2006/main">
              <a:ext uri="{FF2B5EF4-FFF2-40B4-BE49-F238E27FC236}">
                <a16:creationId xmlns:a16="http://schemas.microsoft.com/office/drawing/2014/main" id="{B11312C4-B36D-49EA-A0A4-69824B26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285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mean held-out gain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3 matched seeds</a:t>
            </a:r>
          </a:p>
        </p:txBody>
      </p:sp>
      <p:sp>
        <p:nvSpPr>
          <p:cNvPr id="9" name="int-c-title">
            <a:extLst xmlns:a="http://schemas.openxmlformats.org/drawingml/2006/main">
              <a:ext uri="{FF2B5EF4-FFF2-40B4-BE49-F238E27FC236}">
                <a16:creationId xmlns:a16="http://schemas.microsoft.com/office/drawing/2014/main" id="{1FAAA6A3-1281-453D-BF80-20FD2C3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57425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Curriculum</a:t>
            </a:r>
          </a:p>
        </p:txBody>
      </p:sp>
      <p:sp>
        <p:nvSpPr>
          <p:cNvPr id="10" name="int-c-stat">
            <a:extLst xmlns:a="http://schemas.openxmlformats.org/drawingml/2006/main">
              <a:ext uri="{FF2B5EF4-FFF2-40B4-BE49-F238E27FC236}">
                <a16:creationId xmlns:a16="http://schemas.microsoft.com/office/drawing/2014/main" id="{82F0004C-8FEB-48BF-A00C-718BB933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86075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+0.028</a:t>
            </a:r>
          </a:p>
        </p:txBody>
      </p:sp>
      <p:sp>
        <p:nvSpPr>
          <p:cNvPr id="11" name="int-c-copy">
            <a:extLst xmlns:a="http://schemas.openxmlformats.org/drawingml/2006/main">
              <a:ext uri="{FF2B5EF4-FFF2-40B4-BE49-F238E27FC236}">
                <a16:creationId xmlns:a16="http://schemas.microsoft.com/office/drawing/2014/main" id="{3C31BC8A-A773-4521-8FD0-4A731A78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76675"/>
            <a:ext cx="2857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mean held-out gain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11–20 groups skipped</a:t>
            </a:r>
          </a:p>
        </p:txBody>
      </p:sp>
      <p:sp>
        <p:nvSpPr>
          <p:cNvPr id="12" name="int-g-title">
            <a:extLst xmlns:a="http://schemas.openxmlformats.org/drawingml/2006/main">
              <a:ext uri="{FF2B5EF4-FFF2-40B4-BE49-F238E27FC236}">
                <a16:creationId xmlns:a16="http://schemas.microsoft.com/office/drawing/2014/main" id="{50A2165B-835C-4A3F-B53C-ACD8D878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57425"/>
            <a:ext cx="285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Group size</a:t>
            </a:r>
          </a:p>
        </p:txBody>
      </p:sp>
      <p:sp>
        <p:nvSpPr>
          <p:cNvPr id="13" name="int-g-stat">
            <a:extLst xmlns:a="http://schemas.openxmlformats.org/drawingml/2006/main">
              <a:ext uri="{FF2B5EF4-FFF2-40B4-BE49-F238E27FC236}">
                <a16:creationId xmlns:a16="http://schemas.microsoft.com/office/drawing/2014/main" id="{19AA5CE6-28FF-4F47-954D-D8378B58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67025"/>
            <a:ext cx="2857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No universal</a:t>
            </a:r>
          </a:p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optimum</a:t>
            </a:r>
          </a:p>
        </p:txBody>
      </p:sp>
      <p:sp>
        <p:nvSpPr>
          <p:cNvPr id="14" name="int-g-copy">
            <a:extLst xmlns:a="http://schemas.openxmlformats.org/drawingml/2006/main">
              <a:ext uri="{FF2B5EF4-FFF2-40B4-BE49-F238E27FC236}">
                <a16:creationId xmlns:a16="http://schemas.microsoft.com/office/drawing/2014/main" id="{17DD6C48-FCA4-4E2E-8698-D55C5A05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05275"/>
            <a:ext cx="285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single-seed exploratory result</a:t>
            </a:r>
          </a:p>
        </p:txBody>
      </p:sp>
      <p:sp>
        <p:nvSpPr>
          <p:cNvPr id="15" name="int-conclusion">
            <a:extLst xmlns:a="http://schemas.openxmlformats.org/drawingml/2006/main">
              <a:ext uri="{FF2B5EF4-FFF2-40B4-BE49-F238E27FC236}">
                <a16:creationId xmlns:a16="http://schemas.microsoft.com/office/drawing/2014/main" id="{FC351DC6-FE05-4494-8C10-FA38BDEB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6" name="int-conclusion-copy">
            <a:extLst xmlns:a="http://schemas.openxmlformats.org/drawingml/2006/main">
              <a:ext uri="{FF2B5EF4-FFF2-40B4-BE49-F238E27FC236}">
                <a16:creationId xmlns:a16="http://schemas.microsoft.com/office/drawing/2014/main" id="{1A3F215F-DE2B-4609-85E8-CBA5F6FE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Negative result: reducing collapsed groups is not yet shown to improve learning under a fixed token budget.</a:t>
            </a:r>
          </a:p>
        </p:txBody>
      </p:sp>
      <p:sp>
        <p:nvSpPr>
          <p:cNvPr id="17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2CDD7874-31BB-4F95-9D34-38A500DA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experiments/results/token_budget/results.json; P3 is explicitly scoped as exploratory.</a:t>
            </a:r>
          </a:p>
        </p:txBody>
      </p:sp>
      <p:sp>
        <p:nvSpPr>
          <p:cNvPr id="18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EF26963B-B848-4DA2-B783-AF95851F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9177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80EFB17A-4B42-40EA-8F15-997CADA4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VERIFICATION · P1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5B783DD-B094-4945-8A83-184C073C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Scaling overturned the toy layer-freezing conclusion</a:t>
            </a:r>
          </a:p>
        </p:txBody>
      </p:sp>
      <p:sp>
        <p:nvSpPr>
          <p:cNvPr id="3" name="p1-chart">
            <a:extLst xmlns:a="http://schemas.openxmlformats.org/drawingml/2006/main">
              <a:ext uri="{FF2B5EF4-FFF2-40B4-BE49-F238E27FC236}">
                <a16:creationId xmlns:a16="http://schemas.microsoft.com/office/drawing/2014/main" id="{288D6136-0C09-4B6A-988F-623036BB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6858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8F8F7"/>
          </a:solidFill>
        </p:spPr>
      </p:sp>
      <p:sp>
        <p:nvSpPr>
          <p:cNvPr id="4" name="p1-axis">
            <a:extLst xmlns:a="http://schemas.openxmlformats.org/drawingml/2006/main">
              <a:ext uri="{FF2B5EF4-FFF2-40B4-BE49-F238E27FC236}">
                <a16:creationId xmlns:a16="http://schemas.microsoft.com/office/drawing/2014/main" id="{FF7624AC-B88F-4CC7-957F-A46C09FD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5" name="p1-bar-0">
            <a:extLst xmlns:a="http://schemas.openxmlformats.org/drawingml/2006/main">
              <a:ext uri="{FF2B5EF4-FFF2-40B4-BE49-F238E27FC236}">
                <a16:creationId xmlns:a16="http://schemas.microsoft.com/office/drawing/2014/main" id="{153C70B8-9A9E-43A0-835F-51E7BA25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76450"/>
            <a:ext cx="120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6" name="p1-value-0">
            <a:extLst xmlns:a="http://schemas.openxmlformats.org/drawingml/2006/main">
              <a:ext uri="{FF2B5EF4-FFF2-40B4-BE49-F238E27FC236}">
                <a16:creationId xmlns:a16="http://schemas.microsoft.com/office/drawing/2014/main" id="{7702E37F-9792-4975-8FF4-ACE65288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33550"/>
            <a:ext cx="139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1.000</a:t>
            </a:r>
          </a:p>
        </p:txBody>
      </p:sp>
      <p:sp>
        <p:nvSpPr>
          <p:cNvPr id="7" name="p1-label-0">
            <a:extLst xmlns:a="http://schemas.openxmlformats.org/drawingml/2006/main">
              <a:ext uri="{FF2B5EF4-FFF2-40B4-BE49-F238E27FC236}">
                <a16:creationId xmlns:a16="http://schemas.microsoft.com/office/drawing/2014/main" id="{DAA2A6FE-10DC-4BA2-80E9-02938296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1847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Toy setup</a:t>
            </a:r>
          </a:p>
        </p:txBody>
      </p:sp>
      <p:sp>
        <p:nvSpPr>
          <p:cNvPr id="8" name="p1-bar-1">
            <a:extLst xmlns:a="http://schemas.openxmlformats.org/drawingml/2006/main">
              <a:ext uri="{FF2B5EF4-FFF2-40B4-BE49-F238E27FC236}">
                <a16:creationId xmlns:a16="http://schemas.microsoft.com/office/drawing/2014/main" id="{474BEF0B-1C9E-429B-8E9E-C36FB083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8810"/>
            <a:ext cx="1200150" cy="2608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9" name="p1-value-1">
            <a:extLst xmlns:a="http://schemas.openxmlformats.org/drawingml/2006/main">
              <a:ext uri="{FF2B5EF4-FFF2-40B4-BE49-F238E27FC236}">
                <a16:creationId xmlns:a16="http://schemas.microsoft.com/office/drawing/2014/main" id="{6260B709-19CB-4B93-8E9B-F4A0399E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5910"/>
            <a:ext cx="1390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0.083</a:t>
            </a:r>
          </a:p>
        </p:txBody>
      </p:sp>
      <p:sp>
        <p:nvSpPr>
          <p:cNvPr id="10" name="p1-label-1">
            <a:extLst xmlns:a="http://schemas.openxmlformats.org/drawingml/2006/main">
              <a:ext uri="{FF2B5EF4-FFF2-40B4-BE49-F238E27FC236}">
                <a16:creationId xmlns:a16="http://schemas.microsoft.com/office/drawing/2014/main" id="{E208F676-A800-4A6E-811D-EB3CC7B9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81625"/>
            <a:ext cx="18478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Qwen2.5-3B</a:t>
            </a:r>
          </a:p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4 seeds</a:t>
            </a:r>
          </a:p>
        </p:txBody>
      </p:sp>
      <p:sp>
        <p:nvSpPr>
          <p:cNvPr id="11" name="p1-main">
            <a:extLst xmlns:a="http://schemas.openxmlformats.org/drawingml/2006/main">
              <a:ext uri="{FF2B5EF4-FFF2-40B4-BE49-F238E27FC236}">
                <a16:creationId xmlns:a16="http://schemas.microsoft.com/office/drawing/2014/main" id="{80C9DF45-B919-4576-9E53-91433CF3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76400"/>
            <a:ext cx="41338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12" name="p1-main-stat">
            <a:extLst xmlns:a="http://schemas.openxmlformats.org/drawingml/2006/main">
              <a:ext uri="{FF2B5EF4-FFF2-40B4-BE49-F238E27FC236}">
                <a16:creationId xmlns:a16="http://schemas.microsoft.com/office/drawing/2014/main" id="{BB9C631D-F4F9-45A7-80EE-EBB0880A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3486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0.083 ± 0.048</a:t>
            </a:r>
          </a:p>
        </p:txBody>
      </p:sp>
      <p:sp>
        <p:nvSpPr>
          <p:cNvPr id="13" name="p1-main-copy">
            <a:extLst xmlns:a="http://schemas.openxmlformats.org/drawingml/2006/main">
              <a:ext uri="{FF2B5EF4-FFF2-40B4-BE49-F238E27FC236}">
                <a16:creationId xmlns:a16="http://schemas.microsoft.com/office/drawing/2014/main" id="{D18AF043-7AE9-4781-89A0-2D7437B9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23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mean overlap across four seeds</a:t>
            </a:r>
          </a:p>
        </p:txBody>
      </p:sp>
      <p:sp>
        <p:nvSpPr>
          <p:cNvPr id="14" name="p1-takeaway">
            <a:extLst xmlns:a="http://schemas.openxmlformats.org/drawingml/2006/main">
              <a:ext uri="{FF2B5EF4-FFF2-40B4-BE49-F238E27FC236}">
                <a16:creationId xmlns:a16="http://schemas.microsoft.com/office/drawing/2014/main" id="{438E516F-A1EC-4043-A232-FE93D9D0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41338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5" name="p1-takeaway-copy">
            <a:extLst xmlns:a="http://schemas.openxmlformats.org/drawingml/2006/main">
              <a:ext uri="{FF2B5EF4-FFF2-40B4-BE49-F238E27FC236}">
                <a16:creationId xmlns:a16="http://schemas.microsoft.com/office/drawing/2014/main" id="{75DA322C-5B01-4C22-AE2B-84D4C326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38650"/>
            <a:ext cx="3429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394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Takeaway</a:t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Early layer importance was not stable enough to justify freezing from the first step.</a:t>
            </a:r>
          </a:p>
        </p:txBody>
      </p:sp>
      <p:sp>
        <p:nvSpPr>
          <p:cNvPr id="16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AAFE81A1-A945-4EDC-9C4F-5B022524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experiments/results/p1_layerfreeze/scaled_4seed_result.json; Qwen/Qwen2.5-3B-Instruct.</a:t>
            </a:r>
          </a:p>
        </p:txBody>
      </p:sp>
      <p:sp>
        <p:nvSpPr>
          <p:cNvPr id="17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BE15449E-E69A-457B-81F0-034C41D9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6326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C5688A3E-575E-4A57-B43A-05B79812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OPERATIONAL TELEMETRY · P8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F2B2798-DF3B-40D1-8A89-31323E4D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Telemetry separates method traces—but this is only a proof of concept</a:t>
            </a:r>
          </a:p>
        </p:txBody>
      </p:sp>
      <p:sp>
        <p:nvSpPr>
          <p:cNvPr id="3" name="p8-full">
            <a:extLst xmlns:a="http://schemas.openxmlformats.org/drawingml/2006/main">
              <a:ext uri="{FF2B5EF4-FFF2-40B4-BE49-F238E27FC236}">
                <a16:creationId xmlns:a16="http://schemas.microsoft.com/office/drawing/2014/main" id="{3AA05601-ED28-4F7A-8ED7-C875702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4" name="p8-reward">
            <a:extLst xmlns:a="http://schemas.openxmlformats.org/drawingml/2006/main">
              <a:ext uri="{FF2B5EF4-FFF2-40B4-BE49-F238E27FC236}">
                <a16:creationId xmlns:a16="http://schemas.microsoft.com/office/drawing/2014/main" id="{79059775-3013-4C5F-82DC-FA9C1A3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5" name="p8-scope">
            <a:extLst xmlns:a="http://schemas.openxmlformats.org/drawingml/2006/main">
              <a:ext uri="{FF2B5EF4-FFF2-40B4-BE49-F238E27FC236}">
                <a16:creationId xmlns:a16="http://schemas.microsoft.com/office/drawing/2014/main" id="{264BF111-F7BA-4E87-B891-BCB76BC9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3429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8F8F7"/>
          </a:solidFill>
          <a:ln xmlns:a="http://schemas.openxmlformats.org/drawingml/2006/main" w="11430">
            <a:solidFill>
              <a:srgbClr val="D4D7DC"/>
            </a:solidFill>
            <a:prstDash val="solid"/>
          </a:ln>
        </p:spPr>
      </p:sp>
      <p:sp>
        <p:nvSpPr>
          <p:cNvPr id="6" name="p8-full-title">
            <a:extLst xmlns:a="http://schemas.openxmlformats.org/drawingml/2006/main">
              <a:ext uri="{FF2B5EF4-FFF2-40B4-BE49-F238E27FC236}">
                <a16:creationId xmlns:a16="http://schemas.microsoft.com/office/drawing/2014/main" id="{7DF41759-1BD9-43E5-970F-4ADB429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Full telemetry</a:t>
            </a:r>
          </a:p>
        </p:txBody>
      </p:sp>
      <p:sp>
        <p:nvSpPr>
          <p:cNvPr id="7" name="p8-full-stat">
            <a:extLst xmlns:a="http://schemas.openxmlformats.org/drawingml/2006/main">
              <a:ext uri="{FF2B5EF4-FFF2-40B4-BE49-F238E27FC236}">
                <a16:creationId xmlns:a16="http://schemas.microsoft.com/office/drawing/2014/main" id="{9729BFF5-5115-4A54-A864-3CCEB92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0.838</a:t>
            </a:r>
          </a:p>
        </p:txBody>
      </p:sp>
      <p:sp>
        <p:nvSpPr>
          <p:cNvPr id="8" name="p8-full-copy">
            <a:extLst xmlns:a="http://schemas.openxmlformats.org/drawingml/2006/main">
              <a:ext uri="{FF2B5EF4-FFF2-40B4-BE49-F238E27FC236}">
                <a16:creationId xmlns:a16="http://schemas.microsoft.com/office/drawing/2014/main" id="{C0F0F0FE-BE39-4F96-AD6F-0C54C158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± 0.010 AUROC</a:t>
            </a:r>
          </a:p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5 CV seeds</a:t>
            </a:r>
          </a:p>
        </p:txBody>
      </p:sp>
      <p:sp>
        <p:nvSpPr>
          <p:cNvPr id="9" name="p8-r-title">
            <a:extLst xmlns:a="http://schemas.openxmlformats.org/drawingml/2006/main">
              <a:ext uri="{FF2B5EF4-FFF2-40B4-BE49-F238E27FC236}">
                <a16:creationId xmlns:a16="http://schemas.microsoft.com/office/drawing/2014/main" id="{CD9C0CAD-CB29-4704-9BBC-BC0B8F01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Reward only</a:t>
            </a:r>
          </a:p>
        </p:txBody>
      </p:sp>
      <p:sp>
        <p:nvSpPr>
          <p:cNvPr id="10" name="p8-r-stat">
            <a:extLst xmlns:a="http://schemas.openxmlformats.org/drawingml/2006/main">
              <a:ext uri="{FF2B5EF4-FFF2-40B4-BE49-F238E27FC236}">
                <a16:creationId xmlns:a16="http://schemas.microsoft.com/office/drawing/2014/main" id="{6AC2635B-7DE3-49AE-B9E9-CB5196B2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0.426</a:t>
            </a:r>
          </a:p>
        </p:txBody>
      </p:sp>
      <p:sp>
        <p:nvSpPr>
          <p:cNvPr id="11" name="p8-r-copy">
            <a:extLst xmlns:a="http://schemas.openxmlformats.org/drawingml/2006/main">
              <a:ext uri="{FF2B5EF4-FFF2-40B4-BE49-F238E27FC236}">
                <a16:creationId xmlns:a16="http://schemas.microsoft.com/office/drawing/2014/main" id="{1ACB71A1-2655-49A2-A34D-970A653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862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± 0.027 AUROC</a:t>
            </a:r>
          </a:p>
          <a:p xmlns:a="http://schemas.openxmlformats.org/drawingml/2006/main">
            <a:pPr>
              <a:defRPr sz="150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5 CV seeds</a:t>
            </a:r>
          </a:p>
        </p:txBody>
      </p:sp>
      <p:sp>
        <p:nvSpPr>
          <p:cNvPr id="12" name="p8-s-title">
            <a:extLst xmlns:a="http://schemas.openxmlformats.org/drawingml/2006/main">
              <a:ext uri="{FF2B5EF4-FFF2-40B4-BE49-F238E27FC236}">
                <a16:creationId xmlns:a16="http://schemas.microsoft.com/office/drawing/2014/main" id="{7BA79236-00CA-4559-9F84-1053105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285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Scope boundary</a:t>
            </a:r>
          </a:p>
        </p:txBody>
      </p:sp>
      <p:sp>
        <p:nvSpPr>
          <p:cNvPr id="13" name="p8-s-stat">
            <a:extLst xmlns:a="http://schemas.openxmlformats.org/drawingml/2006/main">
              <a:ext uri="{FF2B5EF4-FFF2-40B4-BE49-F238E27FC236}">
                <a16:creationId xmlns:a16="http://schemas.microsoft.com/office/drawing/2014/main" id="{0EB013C9-E6B3-4C2E-B940-915ACBDD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857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160 rows</a:t>
            </a:r>
          </a:p>
        </p:txBody>
      </p:sp>
      <p:sp>
        <p:nvSpPr>
          <p:cNvPr id="14" name="p8-s-copy">
            <a:extLst xmlns:a="http://schemas.openxmlformats.org/drawingml/2006/main">
              <a:ext uri="{FF2B5EF4-FFF2-40B4-BE49-F238E27FC236}">
                <a16:creationId xmlns:a16="http://schemas.microsoft.com/office/drawing/2014/main" id="{14E0ED42-1823-4E51-BA42-DDE366E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00500"/>
            <a:ext cx="2857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one trajectory per method</a:t>
            </a:r>
          </a:p>
          <a:p xmlns:a="http://schemas.openxmlformats.org/drawingml/2006/main">
            <a:pPr>
              <a:defRPr sz="13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correlated row-wise CV</a:t>
            </a:r>
          </a:p>
          <a:p xmlns:a="http://schemas.openxmlformats.org/drawingml/2006/main">
            <a:pPr>
              <a:defRPr sz="13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not integrity generalization</a:t>
            </a:r>
          </a:p>
        </p:txBody>
      </p:sp>
      <p:sp>
        <p:nvSpPr>
          <p:cNvPr id="15" name="p8-bottom">
            <a:extLst xmlns:a="http://schemas.openxmlformats.org/drawingml/2006/main">
              <a:ext uri="{FF2B5EF4-FFF2-40B4-BE49-F238E27FC236}">
                <a16:creationId xmlns:a16="http://schemas.microsoft.com/office/drawing/2014/main" id="{E07A8F95-0E06-48B5-9798-D1D6FB81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00675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6" name="p8-bottom-copy">
            <a:extLst xmlns:a="http://schemas.openxmlformats.org/drawingml/2006/main">
              <a:ext uri="{FF2B5EF4-FFF2-40B4-BE49-F238E27FC236}">
                <a16:creationId xmlns:a16="http://schemas.microsoft.com/office/drawing/2014/main" id="{65AE78AB-1DF1-4FEC-B537-2D93AC0B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1087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Use as a reproducible diagnostic prototype—not as a deployed detector claim.</a:t>
            </a:r>
          </a:p>
        </p:txBody>
      </p:sp>
      <p:sp>
        <p:nvSpPr>
          <p:cNvPr id="17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11B021F1-23DB-4DD6-941F-CDF70B25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experiments/results/p8_openings/detector_reproduced.json and FINDINGS.md.</a:t>
            </a:r>
          </a:p>
        </p:txBody>
      </p:sp>
      <p:sp>
        <p:nvSpPr>
          <p:cNvPr id="18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A0997114-BF3D-4397-BFCD-1CDA669E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4058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54C76D9B-7D85-4013-A864-7DFD1C3E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CONTRIBUTION MATURITY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C5577E80-FD0B-48AA-9995-A9711BC6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defensible contribution is a measured evidence stack</a:t>
            </a:r>
          </a:p>
        </p:txBody>
      </p:sp>
      <p:sp>
        <p:nvSpPr>
          <p:cNvPr id="3" name="contrib-card-0">
            <a:extLst xmlns:a="http://schemas.openxmlformats.org/drawingml/2006/main">
              <a:ext uri="{FF2B5EF4-FFF2-40B4-BE49-F238E27FC236}">
                <a16:creationId xmlns:a16="http://schemas.microsoft.com/office/drawing/2014/main" id="{91BF3052-A41F-4375-98F6-F122B196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571875" cy="4000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DDF5EC"/>
          </a:solidFill>
        </p:spPr>
      </p:sp>
      <p:sp>
        <p:nvSpPr>
          <p:cNvPr id="4" name="contrib-state-0">
            <a:extLst xmlns:a="http://schemas.openxmlformats.org/drawingml/2006/main">
              <a:ext uri="{FF2B5EF4-FFF2-40B4-BE49-F238E27FC236}">
                <a16:creationId xmlns:a16="http://schemas.microsoft.com/office/drawing/2014/main" id="{81BB06E8-17A7-4549-8F95-7DF5C63D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F5B"/>
                </a:solidFill>
                <a:latin typeface="Helvetica Neue"/>
                <a:ea typeface="Helvetica Neue"/>
                <a:cs typeface="Helvetica Neue"/>
              </a:defRPr>
            </a:pPr>
            <a:r>
              <a:t>BUILT</a:t>
            </a:r>
          </a:p>
        </p:txBody>
      </p:sp>
      <p:sp>
        <p:nvSpPr>
          <p:cNvPr id="5" name="contrib-title-0">
            <a:extLst xmlns:a="http://schemas.openxmlformats.org/drawingml/2006/main">
              <a:ext uri="{FF2B5EF4-FFF2-40B4-BE49-F238E27FC236}">
                <a16:creationId xmlns:a16="http://schemas.microsoft.com/office/drawing/2014/main" id="{9FE5923D-574A-44C7-9075-FF3F9150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95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Measurement + audits</a:t>
            </a:r>
          </a:p>
        </p:txBody>
      </p:sp>
      <p:sp>
        <p:nvSpPr>
          <p:cNvPr id="6" name="contrib-rule-0">
            <a:extLst xmlns:a="http://schemas.openxmlformats.org/drawingml/2006/main">
              <a:ext uri="{FF2B5EF4-FFF2-40B4-BE49-F238E27FC236}">
                <a16:creationId xmlns:a16="http://schemas.microsoft.com/office/drawing/2014/main" id="{2922EF37-786C-4FF2-8F4A-9E56CD55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5B"/>
          </a:solidFill>
        </p:spPr>
      </p:sp>
      <p:sp>
        <p:nvSpPr>
          <p:cNvPr id="7" name="contrib-copy-0">
            <a:extLst xmlns:a="http://schemas.openxmlformats.org/drawingml/2006/main">
              <a:ext uri="{FF2B5EF4-FFF2-40B4-BE49-F238E27FC236}">
                <a16:creationId xmlns:a16="http://schemas.microsoft.com/office/drawing/2014/main" id="{668A1E52-392E-456C-A458-55A2E407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ZVF definition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P2 fixed-schedule analysis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13-claim submission audit</a:t>
            </a:r>
          </a:p>
        </p:txBody>
      </p:sp>
      <p:sp>
        <p:nvSpPr>
          <p:cNvPr id="8" name="contrib-card-1">
            <a:extLst xmlns:a="http://schemas.openxmlformats.org/drawingml/2006/main">
              <a:ext uri="{FF2B5EF4-FFF2-40B4-BE49-F238E27FC236}">
                <a16:creationId xmlns:a16="http://schemas.microsoft.com/office/drawing/2014/main" id="{0B6E7FA3-CAA8-49E2-80F5-B14DC9E1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47850"/>
            <a:ext cx="3571875" cy="4000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9" name="contrib-state-1">
            <a:extLst xmlns:a="http://schemas.openxmlformats.org/drawingml/2006/main">
              <a:ext uri="{FF2B5EF4-FFF2-40B4-BE49-F238E27FC236}">
                <a16:creationId xmlns:a16="http://schemas.microsoft.com/office/drawing/2014/main" id="{E419BF3B-7476-4C1D-976A-D5508676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43125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PROTOTYPE</a:t>
            </a:r>
          </a:p>
        </p:txBody>
      </p:sp>
      <p:sp>
        <p:nvSpPr>
          <p:cNvPr id="10" name="contrib-title-1">
            <a:extLst xmlns:a="http://schemas.openxmlformats.org/drawingml/2006/main">
              <a:ext uri="{FF2B5EF4-FFF2-40B4-BE49-F238E27FC236}">
                <a16:creationId xmlns:a16="http://schemas.microsoft.com/office/drawing/2014/main" id="{656B53D1-FFFD-43D0-ADBD-BFF326CD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47950"/>
            <a:ext cx="295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Telemetry classifier</a:t>
            </a:r>
          </a:p>
        </p:txBody>
      </p:sp>
      <p:sp>
        <p:nvSpPr>
          <p:cNvPr id="11" name="contrib-rule-1">
            <a:extLst xmlns:a="http://schemas.openxmlformats.org/drawingml/2006/main">
              <a:ext uri="{FF2B5EF4-FFF2-40B4-BE49-F238E27FC236}">
                <a16:creationId xmlns:a16="http://schemas.microsoft.com/office/drawing/2014/main" id="{3A1BD4A5-D34B-4577-9595-C53D844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00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contrib-copy-1">
            <a:extLst xmlns:a="http://schemas.openxmlformats.org/drawingml/2006/main">
              <a:ext uri="{FF2B5EF4-FFF2-40B4-BE49-F238E27FC236}">
                <a16:creationId xmlns:a16="http://schemas.microsoft.com/office/drawing/2014/main" id="{A5A4267E-36D1-4386-8C18-3062873F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8145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Reproducible P8 pipeline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offline demo dashboard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interpretation</a:t>
            </a:r>
          </a:p>
        </p:txBody>
      </p:sp>
      <p:sp>
        <p:nvSpPr>
          <p:cNvPr id="13" name="contrib-card-2">
            <a:extLst xmlns:a="http://schemas.openxmlformats.org/drawingml/2006/main">
              <a:ext uri="{FF2B5EF4-FFF2-40B4-BE49-F238E27FC236}">
                <a16:creationId xmlns:a16="http://schemas.microsoft.com/office/drawing/2014/main" id="{3F248081-FE5E-4369-8A42-905AEB92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3571875" cy="40005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7F5FF"/>
          </a:solidFill>
        </p:spPr>
      </p:sp>
      <p:sp>
        <p:nvSpPr>
          <p:cNvPr id="14" name="contrib-state-2">
            <a:extLst xmlns:a="http://schemas.openxmlformats.org/drawingml/2006/main">
              <a:ext uri="{FF2B5EF4-FFF2-40B4-BE49-F238E27FC236}">
                <a16:creationId xmlns:a16="http://schemas.microsoft.com/office/drawing/2014/main" id="{6B91D222-ABE7-4D03-9ACC-F3BD8FBD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43125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64AB"/>
                </a:solidFill>
                <a:latin typeface="Helvetica Neue"/>
                <a:ea typeface="Helvetica Neue"/>
                <a:cs typeface="Helvetica Neue"/>
              </a:defRPr>
            </a:pPr>
            <a:r>
              <a:t>DESIGNED</a:t>
            </a:r>
          </a:p>
        </p:txBody>
      </p:sp>
      <p:sp>
        <p:nvSpPr>
          <p:cNvPr id="15" name="contrib-title-2">
            <a:extLst xmlns:a="http://schemas.openxmlformats.org/drawingml/2006/main">
              <a:ext uri="{FF2B5EF4-FFF2-40B4-BE49-F238E27FC236}">
                <a16:creationId xmlns:a16="http://schemas.microsoft.com/office/drawing/2014/main" id="{7E2BD4B8-08A3-4CE8-A14E-5965B3AF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952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Phase 2 studies</a:t>
            </a:r>
          </a:p>
        </p:txBody>
      </p:sp>
      <p:sp>
        <p:nvSpPr>
          <p:cNvPr id="16" name="contrib-rule-2">
            <a:extLst xmlns:a="http://schemas.openxmlformats.org/drawingml/2006/main">
              <a:ext uri="{FF2B5EF4-FFF2-40B4-BE49-F238E27FC236}">
                <a16:creationId xmlns:a16="http://schemas.microsoft.com/office/drawing/2014/main" id="{C8963B24-1A14-4025-8E4C-53C7F224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64AB"/>
          </a:solidFill>
        </p:spPr>
      </p:sp>
      <p:sp>
        <p:nvSpPr>
          <p:cNvPr id="17" name="contrib-copy-2">
            <a:extLst xmlns:a="http://schemas.openxmlformats.org/drawingml/2006/main">
              <a:ext uri="{FF2B5EF4-FFF2-40B4-BE49-F238E27FC236}">
                <a16:creationId xmlns:a16="http://schemas.microsoft.com/office/drawing/2014/main" id="{618CC518-CC8B-4583-9E86-8822A8D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cross-model replication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cluster-aware validation</a:t>
            </a:r>
          </a:p>
          <a:p xmlns:a="http://schemas.openxmlformats.org/drawingml/2006/main">
            <a:pPr>
              <a:defRPr sz="157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token-efficient controller</a:t>
            </a:r>
          </a:p>
        </p:txBody>
      </p:sp>
      <p:sp>
        <p:nvSpPr>
          <p:cNvPr id="18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1F7B26E1-CB47-4CB4-9E74-FB51AA1A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Claim maturity is explicit: completed evidence, proof-of-concept artifacts, and future work are not conflated.</a:t>
            </a:r>
          </a:p>
        </p:txBody>
      </p:sp>
      <p:sp>
        <p:nvSpPr>
          <p:cNvPr id="19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818ED95A-5741-4257-8C62-CCC206C5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3135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CD49F3E8-D244-4C28-AC74-C57ACF5C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DEMO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037E397C-A904-4ED2-8F91-CF8B4D79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23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The defense demo runs offline in one command</a:t>
            </a:r>
          </a:p>
        </p:txBody>
      </p:sp>
      <p:sp>
        <p:nvSpPr>
          <p:cNvPr id="3" name="demo-terminal">
            <a:extLst xmlns:a="http://schemas.openxmlformats.org/drawingml/2006/main">
              <a:ext uri="{FF2B5EF4-FFF2-40B4-BE49-F238E27FC236}">
                <a16:creationId xmlns:a16="http://schemas.microsoft.com/office/drawing/2014/main" id="{4D09E737-3C8E-47D6-8157-E7C3918B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239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4" name="demo-terminal-title">
            <a:extLst xmlns:a="http://schemas.openxmlformats.org/drawingml/2006/main">
              <a:ext uri="{FF2B5EF4-FFF2-40B4-BE49-F238E27FC236}">
                <a16:creationId xmlns:a16="http://schemas.microsoft.com/office/drawing/2014/main" id="{8C7327DB-B307-4201-B0E2-8B93474A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57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EB4BC"/>
                </a:solidFill>
                <a:latin typeface="Helvetica Neue"/>
                <a:ea typeface="Helvetica Neue"/>
                <a:cs typeface="Helvetica Neue"/>
              </a:defRPr>
            </a:pPr>
            <a:r>
              <a:t>submission/demo</a:t>
            </a:r>
          </a:p>
        </p:txBody>
      </p:sp>
      <p:sp>
        <p:nvSpPr>
          <p:cNvPr id="5" name="demo-terminal-body">
            <a:extLst xmlns:a="http://schemas.openxmlformats.org/drawingml/2006/main">
              <a:ext uri="{FF2B5EF4-FFF2-40B4-BE49-F238E27FC236}">
                <a16:creationId xmlns:a16="http://schemas.microsoft.com/office/drawing/2014/main" id="{B67B568F-275A-4611-9C95-37A2F6CA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477000" cy="308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$ ./submission/demo/demo.sh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Mechanism fixture: PASS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  4 groups · ZVF=0.500 · GU=0.500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Recorded artifact: PASS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  80 rewards · mean=0.6875 · ZVF=0.3000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DEMO STATUS: PASS</a:t>
            </a:r>
          </a:p>
        </p:txBody>
      </p:sp>
      <p:sp>
        <p:nvSpPr>
          <p:cNvPr id="6" name="demo-step-1">
            <a:extLst xmlns:a="http://schemas.openxmlformats.org/drawingml/2006/main">
              <a:ext uri="{FF2B5EF4-FFF2-40B4-BE49-F238E27FC236}">
                <a16:creationId xmlns:a16="http://schemas.microsoft.com/office/drawing/2014/main" id="{B3B2B1AC-B2CF-471A-9E8C-C9DDB87C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733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E7DD"/>
          </a:solidFill>
        </p:spPr>
      </p:sp>
      <p:sp>
        <p:nvSpPr>
          <p:cNvPr id="7" name="demo-step-2">
            <a:extLst xmlns:a="http://schemas.openxmlformats.org/drawingml/2006/main">
              <a:ext uri="{FF2B5EF4-FFF2-40B4-BE49-F238E27FC236}">
                <a16:creationId xmlns:a16="http://schemas.microsoft.com/office/drawing/2014/main" id="{0B4A6865-0E77-400D-A0BD-A3F1648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37338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F2F4"/>
          </a:solidFill>
        </p:spPr>
      </p:sp>
      <p:sp>
        <p:nvSpPr>
          <p:cNvPr id="8" name="demo-step-3">
            <a:extLst xmlns:a="http://schemas.openxmlformats.org/drawingml/2006/main">
              <a:ext uri="{FF2B5EF4-FFF2-40B4-BE49-F238E27FC236}">
                <a16:creationId xmlns:a16="http://schemas.microsoft.com/office/drawing/2014/main" id="{9D792D3F-2923-4370-8AA1-6494EA11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37338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F5EC"/>
          </a:solidFill>
        </p:spPr>
      </p:sp>
      <p:sp>
        <p:nvSpPr>
          <p:cNvPr id="9" name="demo-step-1-copy">
            <a:extLst xmlns:a="http://schemas.openxmlformats.org/drawingml/2006/main">
              <a:ext uri="{FF2B5EF4-FFF2-40B4-BE49-F238E27FC236}">
                <a16:creationId xmlns:a16="http://schemas.microsoft.com/office/drawing/2014/main" id="{A82A7510-C318-4E96-B804-CBDD2A77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21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1  Run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stdlib-only checks</a:t>
            </a:r>
          </a:p>
        </p:txBody>
      </p:sp>
      <p:sp>
        <p:nvSpPr>
          <p:cNvPr id="10" name="demo-step-2-copy">
            <a:extLst xmlns:a="http://schemas.openxmlformats.org/drawingml/2006/main">
              <a:ext uri="{FF2B5EF4-FFF2-40B4-BE49-F238E27FC236}">
                <a16:creationId xmlns:a16="http://schemas.microsoft.com/office/drawing/2014/main" id="{8C19C8B3-B49A-4491-8674-42ACF578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67075"/>
            <a:ext cx="3219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2  Inspect</a:t>
            </a:r>
          </a:p>
          <a:p xmlns:a="http://schemas.openxmlformats.org/drawingml/2006/main">
            <a:pPr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JSON + HTML dashboard</a:t>
            </a:r>
          </a:p>
        </p:txBody>
      </p:sp>
      <p:sp>
        <p:nvSpPr>
          <p:cNvPr id="11" name="demo-step-3-copy">
            <a:extLst xmlns:a="http://schemas.openxmlformats.org/drawingml/2006/main">
              <a:ext uri="{FF2B5EF4-FFF2-40B4-BE49-F238E27FC236}">
                <a16:creationId xmlns:a16="http://schemas.microsoft.com/office/drawing/2014/main" id="{35C88B09-3537-4D7B-9216-EAF18D7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32194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5B"/>
                </a:solidFill>
                <a:latin typeface="Helvetica Neue"/>
                <a:ea typeface="Helvetica Neue"/>
                <a:cs typeface="Helvetica Neue"/>
              </a:defRPr>
            </a:pPr>
            <a:r>
              <a:t>3  Explain</a:t>
            </a:r>
          </a:p>
          <a:p xmlns:a="http://schemas.openxmlformats.org/drawingml/2006/main">
            <a:pPr>
              <a:defRPr sz="1800" b="1">
                <a:solidFill>
                  <a:srgbClr val="087F5B"/>
                </a:solidFill>
                <a:latin typeface="Helvetica Neue"/>
                <a:ea typeface="Helvetica Neue"/>
                <a:cs typeface="Helvetica Neue"/>
              </a:defRPr>
            </a:pPr>
            <a:r>
              <a:t>metric, artifact, scope</a:t>
            </a:r>
          </a:p>
        </p:txBody>
      </p:sp>
      <p:sp>
        <p:nvSpPr>
          <p:cNvPr id="12" name="footer-source-12">
            <a:extLst xmlns:a="http://schemas.openxmlformats.org/drawingml/2006/main">
              <a:ext uri="{FF2B5EF4-FFF2-40B4-BE49-F238E27FC236}">
                <a16:creationId xmlns:a16="http://schemas.microsoft.com/office/drawing/2014/main" id="{E82809E2-4805-471B-8120-0BFF9E0C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Runbook: submission/demo/DEFENSE_RUNBOOK.md; tests: python3 -m unittest discover -s submission/demo/tests -v.</a:t>
            </a:r>
          </a:p>
        </p:txBody>
      </p:sp>
      <p:sp>
        <p:nvSpPr>
          <p:cNvPr id="13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FAF81E4C-D2C3-4D67-8E74-450E51E7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09303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EBA8CB9D-36B1-4DE8-97F1-7624178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CONCLUSION</a:t>
            </a:r>
          </a:p>
        </p:txBody>
      </p:sp>
      <p:sp>
        <p:nvSpPr>
          <p:cNvPr id="2" name="conclusion-main">
            <a:extLst xmlns:a="http://schemas.openxmlformats.org/drawingml/2006/main">
              <a:ext uri="{FF2B5EF4-FFF2-40B4-BE49-F238E27FC236}">
                <a16:creationId xmlns:a16="http://schemas.microsoft.com/office/drawing/2014/main" id="{A69DB590-608F-4AD1-BE98-6A77CB96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685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Zero-advantage sampling is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common, measurable, and not yet</a:t>
            </a:r>
          </a:p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solved by simple filtering.</a:t>
            </a:r>
          </a:p>
        </p:txBody>
      </p:sp>
      <p:sp>
        <p:nvSpPr>
          <p:cNvPr id="3" name="conclusion-accent">
            <a:extLst xmlns:a="http://schemas.openxmlformats.org/drawingml/2006/main">
              <a:ext uri="{FF2B5EF4-FFF2-40B4-BE49-F238E27FC236}">
                <a16:creationId xmlns:a16="http://schemas.microsoft.com/office/drawing/2014/main" id="{FC7EAF71-9C9D-400A-8082-21EA977E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914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E5D48FDF-9E41-4A0D-AD08-D8178F6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66675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Phase 1 delivers a defensible diagnostic contribution:</a:t>
            </a:r>
          </a:p>
          <a:p xmlns:a="http://schemas.openxmlformats.org/drawingml/2006/main">
            <a:pPr>
              <a:defRPr sz="19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measured collapse, negative intervention results,</a:t>
            </a:r>
          </a:p>
          <a:p xmlns:a="http://schemas.openxmlformats.org/drawingml/2006/main">
            <a:pPr>
              <a:defRPr sz="19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scaled verification, and reproducible artifacts.</a:t>
            </a:r>
          </a:p>
        </p:txBody>
      </p:sp>
      <p:sp>
        <p:nvSpPr>
          <p:cNvPr id="5" name="next-panel">
            <a:extLst xmlns:a="http://schemas.openxmlformats.org/drawingml/2006/main">
              <a:ext uri="{FF2B5EF4-FFF2-40B4-BE49-F238E27FC236}">
                <a16:creationId xmlns:a16="http://schemas.microsoft.com/office/drawing/2014/main" id="{8F0E5A64-5A5A-401D-8A8A-C2F2553D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0"/>
            <a:ext cx="4438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</p:spPr>
      </p:sp>
      <p:sp>
        <p:nvSpPr>
          <p:cNvPr id="6" name="next-label">
            <a:extLst xmlns:a="http://schemas.openxmlformats.org/drawingml/2006/main">
              <a:ext uri="{FF2B5EF4-FFF2-40B4-BE49-F238E27FC236}">
                <a16:creationId xmlns:a16="http://schemas.microsoft.com/office/drawing/2014/main" id="{8E64C82A-1CD9-4D0A-834D-C682C862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86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PHASE 2</a:t>
            </a:r>
          </a:p>
        </p:txBody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E8DD8548-3877-46C1-A387-14B49D64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85850"/>
            <a:ext cx="333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Next tests</a:t>
            </a:r>
          </a:p>
        </p:txBody>
      </p:sp>
      <p:sp>
        <p:nvSpPr>
          <p:cNvPr id="8" name="next-items">
            <a:extLst xmlns:a="http://schemas.openxmlformats.org/drawingml/2006/main">
              <a:ext uri="{FF2B5EF4-FFF2-40B4-BE49-F238E27FC236}">
                <a16:creationId xmlns:a16="http://schemas.microsoft.com/office/drawing/2014/main" id="{CFC2B096-D6FE-4657-A19B-E059E527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05025"/>
            <a:ext cx="3238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01  Multi-model replication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02  Cluster-aware detector validation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03  Adaptive sampling under matched compute</a:t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>
              <a:defRPr sz="17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t>04  End-to-end learning impact</a:t>
            </a:r>
          </a:p>
        </p:txBody>
      </p:sp>
      <p:sp>
        <p:nvSpPr>
          <p:cNvPr id="9" name="thanks">
            <a:extLst xmlns:a="http://schemas.openxmlformats.org/drawingml/2006/main">
              <a:ext uri="{FF2B5EF4-FFF2-40B4-BE49-F238E27FC236}">
                <a16:creationId xmlns:a16="http://schemas.microsoft.com/office/drawing/2014/main" id="{EEF07CD1-E525-4902-8411-ABAD2759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53075"/>
            <a:ext cx="3333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Thank you</a:t>
            </a:r>
          </a:p>
        </p:txBody>
      </p:sp>
      <p:sp>
        <p:nvSpPr>
          <p:cNvPr id="10" name="footer-source-13">
            <a:extLst xmlns:a="http://schemas.openxmlformats.org/drawingml/2006/main">
              <a:ext uri="{FF2B5EF4-FFF2-40B4-BE49-F238E27FC236}">
                <a16:creationId xmlns:a16="http://schemas.microsoft.com/office/drawing/2014/main" id="{41AACC02-83BB-42C4-A448-04E6F7C5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Final position: diagnostic evidence is strong; causal and generalization claims remain Phase 2 work.</a:t>
            </a:r>
          </a:p>
        </p:txBody>
      </p:sp>
      <p:sp>
        <p:nvSpPr>
          <p:cNvPr id="11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372DA463-D5A1-4D32-80D6-A41D6B2C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E667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58523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2026-07-10T07:23:47.5320000Z</dcterms:created>
  <dcterms:modified xsi:type="dcterms:W3CDTF">2026-07-10T07:23:47.5320000Z</dcterms:modified>
</coreProperties>
</file>