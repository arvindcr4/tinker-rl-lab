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buNone/>
            </a:pPr>
            <a:r>
              <a:rPr sz="1500" b="1" i="0">
                <a:solidFill>
                  <a:srgbClr val="2E74B5"/>
                </a:solidFill>
                <a:latin typeface="Calibri"/>
              </a:rPr>
              <a:t>M.TECH DATA SCIENCE &amp; AI  —  FINAL THESIS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buNone/>
            </a:pPr>
            <a:r>
              <a:rPr sz="4600" b="1" i="0">
                <a:solidFill>
                  <a:srgbClr val="1F4E79"/>
                </a:solidFill>
                <a:latin typeface="Calibri"/>
              </a:rPr>
              <a:t>Tinker RL Lab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>
                <a:solidFill>
                  <a:srgbClr val="222222"/>
                </a:solidFill>
                <a:latin typeface="Calibri"/>
              </a:rPr>
              <a:t>A Multi-Framework Benchmark and Study of GRPO-Style Reinforcement-Learning Post-Training of Large Language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7448" y="3611880"/>
            <a:ext cx="2743200" cy="3175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886200"/>
            <a:ext cx="9966960" cy="2194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sz="2000" b="1" i="0">
                <a:solidFill>
                  <a:srgbClr val="222222"/>
                </a:solidFill>
                <a:latin typeface="Calibri"/>
              </a:rPr>
              <a:t>Arvind C R  (Arvind Chitra Rajasekaran)</a:t>
            </a:r>
          </a:p>
          <a:p>
            <a:pPr algn="ctr">
              <a:spcBef>
                <a:spcPts val="0"/>
              </a:spcBef>
              <a:spcAft>
                <a:spcPts val="1000"/>
              </a:spcAft>
              <a:buNone/>
            </a:pPr>
            <a:r>
              <a:rPr sz="1500" b="0" i="0">
                <a:solidFill>
                  <a:srgbClr val="5A5A5A"/>
                </a:solidFill>
                <a:latin typeface="Calibri"/>
              </a:rPr>
              <a:t>SRN: PES2PGE24DS140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sz="1600" b="0" i="0">
                <a:solidFill>
                  <a:srgbClr val="222222"/>
                </a:solidFill>
                <a:latin typeface="Calibri"/>
              </a:rPr>
              <a:t>Project Guide:  Ramesh Prakash Guledgudd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sz="1500" b="0" i="0">
                <a:solidFill>
                  <a:srgbClr val="222222"/>
                </a:solidFill>
                <a:latin typeface="Calibri"/>
              </a:rPr>
              <a:t>Department of Computer Science &amp; Engineering</a:t>
            </a:r>
          </a:p>
          <a:p>
            <a:pPr algn="ctr">
              <a:spcBef>
                <a:spcPts val="0"/>
              </a:spcBef>
              <a:spcAft>
                <a:spcPts val="1000"/>
              </a:spcAft>
              <a:buNone/>
            </a:pPr>
            <a:r>
              <a:rPr sz="1500" b="0" i="0">
                <a:solidFill>
                  <a:srgbClr val="222222"/>
                </a:solidFill>
                <a:latin typeface="Calibri"/>
              </a:rPr>
              <a:t>PES University, Bengaluru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buNone/>
            </a:pPr>
            <a:r>
              <a:rPr sz="1400" b="0" i="0">
                <a:solidFill>
                  <a:srgbClr val="5A5A5A"/>
                </a:solidFill>
                <a:latin typeface="Calibri"/>
              </a:rPr>
              <a:t>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 i="0">
                <a:solidFill>
                  <a:srgbClr val="1F4E79"/>
                </a:solidFill>
                <a:latin typeface="Calibri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201168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55664"/>
            <a:ext cx="11094415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Calibri"/>
              </a:rPr>
              <a:t>Tinker RL Lab  —  M.Tech Final Thesis Review  •  Arvind C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55664"/>
            <a:ext cx="7315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440680" cy="4480560"/>
          </a:xfrm>
          <a:prstGeom prst="roundRect">
            <a:avLst>
              <a:gd name="adj" fmla="val 4000"/>
            </a:avLst>
          </a:prstGeom>
          <a:solidFill>
            <a:srgbClr val="F2F5F9"/>
          </a:solidFill>
          <a:ln w="9525">
            <a:solidFill>
              <a:srgbClr val="D0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3640" y="1508760"/>
            <a:ext cx="5394960" cy="4480560"/>
          </a:xfrm>
          <a:prstGeom prst="roundRect">
            <a:avLst>
              <a:gd name="adj" fmla="val 4000"/>
            </a:avLst>
          </a:prstGeom>
          <a:solidFill>
            <a:srgbClr val="F2F5F9"/>
          </a:solidFill>
          <a:ln w="9525">
            <a:solidFill>
              <a:srgbClr val="D0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029200" cy="4023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</a:rPr>
              <a:t>1.  Problem statement &amp; motivation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</a:rPr>
              <a:t>2.  Objectives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</a:rPr>
              <a:t>3.  Literature context (RLHF → PPO → DPO → GRPO)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</a:rPr>
              <a:t>4.  System architecture (6 RL frameworks)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</a:rPr>
              <a:t>5.  Methodology: the four de-confound pillars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</a:rPr>
              <a:t>6.  Key results (5 slides)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5029200" cy="4023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</a:rPr>
              <a:t>7.  P1–P8 contribution map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</a:rPr>
              <a:t>8.  Applied study: LLM vs XGBoost fraud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</a:rPr>
              <a:t>9.  Reproducibility &amp; audit apparatus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</a:rPr>
              <a:t>10. Publications &amp; submissions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</a:rPr>
              <a:t>11. Demo, ownership, limitations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</a:rPr>
              <a:t>12. Conclusions &amp;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 i="0">
                <a:solidFill>
                  <a:srgbClr val="1F4E79"/>
                </a:solidFill>
                <a:latin typeface="Calibri"/>
              </a:rPr>
              <a:t>Problem Statement &amp;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201168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55664"/>
            <a:ext cx="11094415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Calibri"/>
              </a:rPr>
              <a:t>Tinker RL Lab  —  M.Tech Final Thesis Review  •  Arvind C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55664"/>
            <a:ext cx="7315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800" b="1" i="0">
                <a:solidFill>
                  <a:srgbClr val="1F4E79"/>
                </a:solidFill>
                <a:latin typeface="Calibri"/>
              </a:rPr>
              <a:t>GRPO (critic-free, group-relative RL) is now the default for LLM post-training — but its reported gains are easily confounded.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</a:rPr>
              <a:t>A headline number hides the stack: same nominal “GRPO” gives TRL 73.4% vs Tinker 99.9% on the same task (p=0.0014).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</a:rPr>
              <a:t>Most published RL-for-LLM results are single-seed, single-library, and train-set-only — not auditable or comparable.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</a:rPr>
              <a:t>Does GRPO actually add capability, or surface pre-existing capability? On held-out GSM8K, GRPO adds only +1.3 pts over the base model (83.3% vs 82.0%, p=0.26).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800" b="1" i="0">
                <a:solidFill>
                  <a:srgbClr val="1F4E79"/>
                </a:solidFill>
                <a:latin typeface="Calibri"/>
              </a:rPr>
              <a:t>Need: an honest, multi-framework harness that runs identical GRPO/PPO/DPO workloads and isolates what actually drives the effect.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1">
                <a:solidFill>
                  <a:srgbClr val="5A5A5A"/>
                </a:solidFill>
                <a:latin typeface="Calibri"/>
              </a:rPr>
              <a:t>Sources: LIMITATIONS_AND_IMPACT.md §8; reports/final/ held-out eval; experiments/experiment_summary.md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 i="0">
                <a:solidFill>
                  <a:srgbClr val="1F4E79"/>
                </a:solidFill>
                <a:latin typeface="Calibri"/>
              </a:rPr>
              <a:t>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201168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55664"/>
            <a:ext cx="11094415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Calibri"/>
              </a:rPr>
              <a:t>Tinker RL Lab  —  M.Tech Final Thesis Review  •  Arvind C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55664"/>
            <a:ext cx="7315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94415" cy="4572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800" b="1" i="0">
                <a:solidFill>
                  <a:srgbClr val="1F4E79"/>
                </a:solidFill>
                <a:latin typeface="Calibri"/>
              </a:rPr>
              <a:t>O1  Build a multi-framework benchmark that runs identical GRPO/PPO/DPO workloads across Tinker, SkyRL, verl, OpenRLHF, TRL and Atropos.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800" b="1" i="0">
                <a:solidFill>
                  <a:srgbClr val="1F4E79"/>
                </a:solidFill>
                <a:latin typeface="Calibri"/>
              </a:rPr>
              <a:t>O2  De-confound the GRPO effect via four controlled pillars (same-stack algorithm, ZVF, group size, held-out generalization).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800" b="1" i="0">
                <a:solidFill>
                  <a:srgbClr val="1F4E79"/>
                </a:solidFill>
                <a:latin typeface="Calibri"/>
              </a:rPr>
              <a:t>O3  Introduce diagnostics for signal starvation — the Zero-Variance Fraction (ZVF) and gradient utilization = 1−ZVF.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800" b="1" i="0">
                <a:solidFill>
                  <a:srgbClr val="1F4E79"/>
                </a:solidFill>
                <a:latin typeface="Calibri"/>
              </a:rPr>
              <a:t>O4  Characterize GRPO scaling behavior from 0.6B to ~671B parameters across five model families.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800" b="1" i="0">
                <a:solidFill>
                  <a:srgbClr val="1F4E79"/>
                </a:solidFill>
                <a:latin typeface="Calibri"/>
              </a:rPr>
              <a:t>O5  Enforce reproducibility: multi-seed protocol, 13-audit integrity suite, Docker, and copy-pasteable REPRODUCE.md.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800" b="1" i="0">
                <a:solidFill>
                  <a:srgbClr val="1F4E79"/>
                </a:solidFill>
                <a:latin typeface="Calibri"/>
              </a:rPr>
              <a:t>O6  Probe transfer of the measurement discipline to an applied domain (LLM vs XGBoost credit-card fraud).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>
                <a:solidFill>
                  <a:srgbClr val="2E74B5"/>
                </a:solidFill>
                <a:latin typeface="Calibri"/>
              </a:rPr>
              <a:t>ALGORITHMIC LINEAGE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1F4E79"/>
                </a:solidFill>
                <a:latin typeface="Calibri"/>
              </a:rPr>
              <a:t>Literature Context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201168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55664"/>
            <a:ext cx="11094415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Calibri"/>
              </a:rPr>
              <a:t>Tinker RL Lab  —  M.Tech Final Thesis Review  •  Arvind C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55664"/>
            <a:ext cx="7315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3950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40771"/>
                <a:gridCol w="5547207"/>
                <a:gridCol w="3106436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73152" marR="54864" marT="9144" marB="9144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Key idea</a:t>
                      </a:r>
                    </a:p>
                  </a:txBody>
                  <a:tcPr marL="73152" marR="54864" marT="9144" marB="9144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Reference</a:t>
                      </a:r>
                    </a:p>
                  </a:txBody>
                  <a:tcPr marL="73152" marR="54864" marT="9144" marB="9144" anchor="ctr">
                    <a:solidFill>
                      <a:srgbClr val="1F4E7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222222"/>
                          </a:solidFill>
                          <a:latin typeface="Calibri"/>
                        </a:rPr>
                        <a:t>RLHF / InstructGPT</a:t>
                      </a:r>
                    </a:p>
                  </a:txBody>
                  <a:tcPr marL="73152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 i="0">
                          <a:solidFill>
                            <a:srgbClr val="222222"/>
                          </a:solidFill>
                          <a:latin typeface="Calibri"/>
                        </a:rPr>
                        <a:t>Align LMs to human preference via a learned reward + RL</a:t>
                      </a:r>
                    </a:p>
                  </a:txBody>
                  <a:tcPr marL="73152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 i="0">
                          <a:solidFill>
                            <a:srgbClr val="222222"/>
                          </a:solidFill>
                          <a:latin typeface="Calibri"/>
                        </a:rPr>
                        <a:t>Ouyang et al. 2022</a:t>
                      </a:r>
                    </a:p>
                  </a:txBody>
                  <a:tcPr marL="73152" marR="54864" marT="9144" marB="9144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222222"/>
                          </a:solidFill>
                          <a:latin typeface="Calibri"/>
                        </a:rPr>
                        <a:t>PPO</a:t>
                      </a:r>
                    </a:p>
                  </a:txBody>
                  <a:tcPr marL="73152" marR="54864" marT="9144" marB="914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 i="0">
                          <a:solidFill>
                            <a:srgbClr val="222222"/>
                          </a:solidFill>
                          <a:latin typeface="Calibri"/>
                        </a:rPr>
                        <a:t>Clipped policy-gradient with a value critic (the RLHF workhorse)</a:t>
                      </a:r>
                    </a:p>
                  </a:txBody>
                  <a:tcPr marL="73152" marR="54864" marT="9144" marB="914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 i="0">
                          <a:solidFill>
                            <a:srgbClr val="222222"/>
                          </a:solidFill>
                          <a:latin typeface="Calibri"/>
                        </a:rPr>
                        <a:t>Schulman et al. 2017</a:t>
                      </a:r>
                    </a:p>
                  </a:txBody>
                  <a:tcPr marL="73152" marR="54864" marT="9144" marB="9144" anchor="ctr">
                    <a:solidFill>
                      <a:srgbClr val="F2F5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222222"/>
                          </a:solidFill>
                          <a:latin typeface="Calibri"/>
                        </a:rPr>
                        <a:t>DPO</a:t>
                      </a:r>
                    </a:p>
                  </a:txBody>
                  <a:tcPr marL="73152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 i="0">
                          <a:solidFill>
                            <a:srgbClr val="222222"/>
                          </a:solidFill>
                          <a:latin typeface="Calibri"/>
                        </a:rPr>
                        <a:t>Skip the reward model: preference as a closed-form classification loss</a:t>
                      </a:r>
                    </a:p>
                  </a:txBody>
                  <a:tcPr marL="73152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 i="0">
                          <a:solidFill>
                            <a:srgbClr val="222222"/>
                          </a:solidFill>
                          <a:latin typeface="Calibri"/>
                        </a:rPr>
                        <a:t>Rafailov et al. 2023</a:t>
                      </a:r>
                    </a:p>
                  </a:txBody>
                  <a:tcPr marL="73152" marR="54864" marT="9144" marB="9144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222222"/>
                          </a:solidFill>
                          <a:latin typeface="Calibri"/>
                        </a:rPr>
                        <a:t>GRPO</a:t>
                      </a:r>
                    </a:p>
                  </a:txBody>
                  <a:tcPr marL="73152" marR="54864" marT="9144" marB="914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 i="0">
                          <a:solidFill>
                            <a:srgbClr val="222222"/>
                          </a:solidFill>
                          <a:latin typeface="Calibri"/>
                        </a:rPr>
                        <a:t>Critic-free; group-relative baseline over G sampled completions</a:t>
                      </a:r>
                    </a:p>
                  </a:txBody>
                  <a:tcPr marL="73152" marR="54864" marT="9144" marB="914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 i="0">
                          <a:solidFill>
                            <a:srgbClr val="222222"/>
                          </a:solidFill>
                          <a:latin typeface="Calibri"/>
                        </a:rPr>
                        <a:t>Shao et al. 2024 (DeepSeekMath)</a:t>
                      </a:r>
                    </a:p>
                  </a:txBody>
                  <a:tcPr marL="73152" marR="54864" marT="9144" marB="9144" anchor="ctr">
                    <a:solidFill>
                      <a:srgbClr val="F2F5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222222"/>
                          </a:solidFill>
                          <a:latin typeface="Calibri"/>
                        </a:rPr>
                        <a:t>R1-style RL</a:t>
                      </a:r>
                    </a:p>
                  </a:txBody>
                  <a:tcPr marL="73152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 i="0">
                          <a:solidFill>
                            <a:srgbClr val="222222"/>
                          </a:solidFill>
                          <a:latin typeface="Calibri"/>
                        </a:rPr>
                        <a:t>GRPO at scale elicits emergent chain-of-thought reasoning</a:t>
                      </a:r>
                    </a:p>
                  </a:txBody>
                  <a:tcPr marL="73152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 i="0">
                          <a:solidFill>
                            <a:srgbClr val="222222"/>
                          </a:solidFill>
                          <a:latin typeface="Calibri"/>
                        </a:rPr>
                        <a:t>DeepSeek-R1, 2025</a:t>
                      </a:r>
                    </a:p>
                  </a:txBody>
                  <a:tcPr marL="73152" marR="54864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06440"/>
            <a:ext cx="11094415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350" b="0" i="1">
                <a:solidFill>
                  <a:srgbClr val="222222"/>
                </a:solidFill>
                <a:latin typeface="Calibri"/>
              </a:rPr>
              <a:t>This work studies the GRPO node of this lineage: critic-free RL removes the value network but introduces group-relative variance as the new failure surface (Pillars 1–2).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7648"/>
            <a:ext cx="1109441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1">
                <a:solidFill>
                  <a:srgbClr val="5A5A5A"/>
                </a:solidFill>
                <a:latin typeface="Calibri"/>
              </a:rPr>
              <a:t>Source: capstone-literature-survey/chapter2_foundation.tex, references.bib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>
                <a:solidFill>
                  <a:srgbClr val="2E74B5"/>
                </a:solidFill>
                <a:latin typeface="Calibri"/>
              </a:rPr>
              <a:t>MULTI-FRAMEWORK BENCHMARK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1F4E79"/>
                </a:solidFill>
                <a:latin typeface="Calibri"/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201168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55664"/>
            <a:ext cx="11094415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Calibri"/>
              </a:rPr>
              <a:t>Tinker RL Lab  —  M.Tech Final Thesis Review  •  Arvind C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55664"/>
            <a:ext cx="7315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806440" cy="4343400"/>
          </a:xfrm>
          <a:prstGeom prst="roundRect">
            <a:avLst>
              <a:gd name="adj" fmla="val 4000"/>
            </a:avLst>
          </a:prstGeom>
          <a:solidFill>
            <a:srgbClr val="F2F5F9"/>
          </a:solidFill>
          <a:ln w="9525">
            <a:solidFill>
              <a:srgbClr val="D0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500" b="1" i="0">
                <a:solidFill>
                  <a:srgbClr val="1F4E79"/>
                </a:solidFill>
                <a:latin typeface="Calibri"/>
              </a:rPr>
              <a:t>Six RL backends behind one Tinker-style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5486400" cy="374903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indent="-182880" marL="182880">
              <a:spcAft>
                <a:spcPts val="800"/>
              </a:spcAft>
              <a:buClr>
                <a:srgbClr val="2E74B5"/>
              </a:buClr>
              <a:buFont typeface="Arial"/>
              <a:buChar char="•"/>
            </a:pPr>
            <a:r>
              <a:rPr sz="1550" b="1" i="0">
                <a:solidFill>
                  <a:srgbClr val="222222"/>
                </a:solidFill>
                <a:latin typeface="Calibri"/>
              </a:rPr>
              <a:t>Tinker  </a:t>
            </a:r>
            <a:r>
              <a:rPr sz="1350" b="0" i="0">
                <a:solidFill>
                  <a:srgbClr val="5A5A5A"/>
                </a:solidFill>
                <a:latin typeface="Calibri"/>
              </a:rPr>
              <a:t>—  managed GRPO/PPO/REINFORCE (hosted API)</a:t>
            </a:r>
          </a:p>
          <a:p>
            <a:pPr indent="-182880" marL="182880">
              <a:spcAft>
                <a:spcPts val="800"/>
              </a:spcAft>
              <a:buClr>
                <a:srgbClr val="2E74B5"/>
              </a:buClr>
              <a:buFont typeface="Arial"/>
              <a:buChar char="•"/>
            </a:pPr>
            <a:r>
              <a:rPr sz="1550" b="1" i="0">
                <a:solidFill>
                  <a:srgbClr val="222222"/>
                </a:solidFill>
                <a:latin typeface="Calibri"/>
              </a:rPr>
              <a:t>SkyRL tx  </a:t>
            </a:r>
            <a:r>
              <a:rPr sz="1350" b="0" i="0">
                <a:solidFill>
                  <a:srgbClr val="5A5A5A"/>
                </a:solidFill>
                <a:latin typeface="Calibri"/>
              </a:rPr>
              <a:t>—  local Tinker API on own / vast.ai / Colab GPUs</a:t>
            </a:r>
          </a:p>
          <a:p>
            <a:pPr indent="-182880" marL="182880">
              <a:spcAft>
                <a:spcPts val="800"/>
              </a:spcAft>
              <a:buClr>
                <a:srgbClr val="2E74B5"/>
              </a:buClr>
              <a:buFont typeface="Arial"/>
              <a:buChar char="•"/>
            </a:pPr>
            <a:r>
              <a:rPr sz="1550" b="1" i="0">
                <a:solidFill>
                  <a:srgbClr val="222222"/>
                </a:solidFill>
                <a:latin typeface="Calibri"/>
              </a:rPr>
              <a:t>verl  </a:t>
            </a:r>
            <a:r>
              <a:rPr sz="1350" b="0" i="0">
                <a:solidFill>
                  <a:srgbClr val="5A5A5A"/>
                </a:solidFill>
                <a:latin typeface="Calibri"/>
              </a:rPr>
              <a:t>—  Volcano Engine / HybridFlow, Ray + vLLM</a:t>
            </a:r>
          </a:p>
          <a:p>
            <a:pPr indent="-182880" marL="182880">
              <a:spcAft>
                <a:spcPts val="800"/>
              </a:spcAft>
              <a:buClr>
                <a:srgbClr val="2E74B5"/>
              </a:buClr>
              <a:buFont typeface="Arial"/>
              <a:buChar char="•"/>
            </a:pPr>
            <a:r>
              <a:rPr sz="1550" b="1" i="0">
                <a:solidFill>
                  <a:srgbClr val="222222"/>
                </a:solidFill>
                <a:latin typeface="Calibri"/>
              </a:rPr>
              <a:t>OpenRLHF  </a:t>
            </a:r>
            <a:r>
              <a:rPr sz="1350" b="0" i="0">
                <a:solidFill>
                  <a:srgbClr val="5A5A5A"/>
                </a:solidFill>
                <a:latin typeface="Calibri"/>
              </a:rPr>
              <a:t>—  Ray + vLLM; PPO / DAPO / REINFORCE++</a:t>
            </a:r>
          </a:p>
          <a:p>
            <a:pPr indent="-182880" marL="182880">
              <a:spcAft>
                <a:spcPts val="800"/>
              </a:spcAft>
              <a:buClr>
                <a:srgbClr val="2E74B5"/>
              </a:buClr>
              <a:buFont typeface="Arial"/>
              <a:buChar char="•"/>
            </a:pPr>
            <a:r>
              <a:rPr sz="1550" b="1" i="0">
                <a:solidFill>
                  <a:srgbClr val="222222"/>
                </a:solidFill>
                <a:latin typeface="Calibri"/>
              </a:rPr>
              <a:t>TRL  </a:t>
            </a:r>
            <a:r>
              <a:rPr sz="1350" b="0" i="0">
                <a:solidFill>
                  <a:srgbClr val="5A5A5A"/>
                </a:solidFill>
                <a:latin typeface="Calibri"/>
              </a:rPr>
              <a:t>—  HuggingFace reference same-stack runner</a:t>
            </a:r>
          </a:p>
          <a:p>
            <a:pPr indent="-182880" marL="182880">
              <a:spcAft>
                <a:spcPts val="800"/>
              </a:spcAft>
              <a:buClr>
                <a:srgbClr val="2E74B5"/>
              </a:buClr>
              <a:buFont typeface="Arial"/>
              <a:buChar char="•"/>
            </a:pPr>
            <a:r>
              <a:rPr sz="1550" b="1" i="0">
                <a:solidFill>
                  <a:srgbClr val="222222"/>
                </a:solidFill>
                <a:latin typeface="Calibri"/>
              </a:rPr>
              <a:t>Atropos  </a:t>
            </a:r>
            <a:r>
              <a:rPr sz="1350" b="0" i="0">
                <a:solidFill>
                  <a:srgbClr val="5A5A5A"/>
                </a:solidFill>
                <a:latin typeface="Calibri"/>
              </a:rPr>
              <a:t>—  NousResearch RL environments (GSM8K/MATH/tool-use)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554480"/>
            <a:ext cx="5120640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691640"/>
            <a:ext cx="4754880" cy="4114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500" b="1" i="0">
                <a:solidFill>
                  <a:srgbClr val="1F4E79"/>
                </a:solidFill>
                <a:latin typeface="Calibri"/>
              </a:rPr>
              <a:t>Unified pipeline</a:t>
            </a:r>
          </a:p>
          <a:p>
            <a:pPr algn="l" indent="-182880" marL="182880">
              <a:spcBef>
                <a:spcPts val="0"/>
              </a:spcBef>
              <a:spcAft>
                <a:spcPts val="800"/>
              </a:spcAft>
              <a:buClr>
                <a:srgbClr val="2E74B5"/>
              </a:buClr>
              <a:buFont typeface="Arial"/>
              <a:buChar char="•"/>
            </a:pPr>
            <a:r>
              <a:rPr sz="1350" b="0" i="0">
                <a:solidFill>
                  <a:srgbClr val="222222"/>
                </a:solidFill>
                <a:latin typeface="Calibri"/>
              </a:rPr>
              <a:t>unified.launcher → dispatch to any backend</a:t>
            </a:r>
          </a:p>
          <a:p>
            <a:pPr algn="l" indent="-182880" marL="182880">
              <a:spcBef>
                <a:spcPts val="0"/>
              </a:spcBef>
              <a:spcAft>
                <a:spcPts val="800"/>
              </a:spcAft>
              <a:buClr>
                <a:srgbClr val="2E74B5"/>
              </a:buClr>
              <a:buFont typeface="Arial"/>
              <a:buChar char="•"/>
            </a:pPr>
            <a:r>
              <a:rPr sz="1350" b="0" i="0">
                <a:solidFill>
                  <a:srgbClr val="222222"/>
                </a:solidFill>
                <a:latin typeface="Calibri"/>
              </a:rPr>
              <a:t>Envs: GSM8K, MATH-500, HumanEval, xLAM / synthetic tool-use</a:t>
            </a:r>
          </a:p>
          <a:p>
            <a:pPr algn="l" indent="-182880" marL="182880">
              <a:spcBef>
                <a:spcPts val="0"/>
              </a:spcBef>
              <a:spcAft>
                <a:spcPts val="800"/>
              </a:spcAft>
              <a:buClr>
                <a:srgbClr val="2E74B5"/>
              </a:buClr>
              <a:buFont typeface="Arial"/>
              <a:buChar char="•"/>
            </a:pPr>
            <a:r>
              <a:rPr sz="1350" b="0" i="0">
                <a:solidFill>
                  <a:srgbClr val="222222"/>
                </a:solidFill>
                <a:latin typeface="Calibri"/>
              </a:rPr>
              <a:t>Models: Qwen 0.6B–235B, Llama-3.1-8B, DeepSeek-V3.1, Nemotron-120B</a:t>
            </a:r>
          </a:p>
          <a:p>
            <a:pPr algn="l" indent="-182880" marL="182880">
              <a:spcBef>
                <a:spcPts val="0"/>
              </a:spcBef>
              <a:spcAft>
                <a:spcPts val="800"/>
              </a:spcAft>
              <a:buClr>
                <a:srgbClr val="2E74B5"/>
              </a:buClr>
              <a:buFont typeface="Arial"/>
              <a:buChar char="•"/>
            </a:pPr>
            <a:r>
              <a:rPr sz="1350" b="0" i="0">
                <a:solidFill>
                  <a:srgbClr val="222222"/>
                </a:solidFill>
                <a:latin typeface="Calibri"/>
              </a:rPr>
              <a:t>Telemetry: per-step reward, ZVF, gradient norm, length</a:t>
            </a:r>
          </a:p>
          <a:p>
            <a:pPr algn="l" indent="-182880" marL="182880">
              <a:spcBef>
                <a:spcPts val="0"/>
              </a:spcBef>
              <a:spcAft>
                <a:spcPts val="800"/>
              </a:spcAft>
              <a:buClr>
                <a:srgbClr val="2E74B5"/>
              </a:buClr>
              <a:buFont typeface="Arial"/>
              <a:buChar char="•"/>
            </a:pPr>
            <a:r>
              <a:rPr sz="1350" b="0" i="0">
                <a:solidFill>
                  <a:srgbClr val="222222"/>
                </a:solidFill>
                <a:latin typeface="Calibri"/>
              </a:rPr>
              <a:t>Aggregate → rliable + bootstrap → LaTeX tables + figures</a:t>
            </a:r>
          </a:p>
          <a:p>
            <a:pPr algn="l" indent="-182880" marL="182880">
              <a:spcBef>
                <a:spcPts val="0"/>
              </a:spcBef>
              <a:spcAft>
                <a:spcPts val="800"/>
              </a:spcAft>
              <a:buClr>
                <a:srgbClr val="2E74B5"/>
              </a:buClr>
              <a:buFont typeface="Arial"/>
              <a:buChar char="•"/>
            </a:pPr>
            <a:r>
              <a:rPr sz="1350" b="0" i="0">
                <a:solidFill>
                  <a:srgbClr val="222222"/>
                </a:solidFill>
                <a:latin typeface="Calibri"/>
              </a:rPr>
              <a:t>Held-out evaluator + 9 variance-mitigation baselines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5504688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200" b="0" i="1">
                <a:solidFill>
                  <a:srgbClr val="5A5A5A"/>
                </a:solidFill>
                <a:latin typeface="Calibri"/>
              </a:rPr>
              <a:t>Backends span Local GPU, vast.ai, Modal H100 and Colab.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 i="0">
                <a:solidFill>
                  <a:srgbClr val="1F4E79"/>
                </a:solidFill>
                <a:latin typeface="Calibri"/>
              </a:rPr>
              <a:t>Methodology: The Four De-Confound Pillars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201168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55664"/>
            <a:ext cx="11094415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Calibri"/>
              </a:rPr>
              <a:t>Tinker RL Lab  —  M.Tech Final Thesis Review  •  Arvind C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55664"/>
            <a:ext cx="7315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35661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328324"/>
                <a:gridCol w="4437766"/>
                <a:gridCol w="3328324"/>
              </a:tblGrid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Pillar</a:t>
                      </a:r>
                    </a:p>
                  </a:txBody>
                  <a:tcPr marL="73152" marR="54864" marT="9144" marB="9144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What it isolates</a:t>
                      </a:r>
                    </a:p>
                  </a:txBody>
                  <a:tcPr marL="73152" marR="54864" marT="9144" marB="9144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Design</a:t>
                      </a:r>
                    </a:p>
                  </a:txBody>
                  <a:tcPr marL="73152" marR="54864" marT="9144" marB="9144" anchor="ctr">
                    <a:solidFill>
                      <a:srgbClr val="1F4E79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222222"/>
                          </a:solidFill>
                          <a:latin typeface="Calibri"/>
                        </a:rPr>
                        <a:t>1 · PPO vs GRPO (same-stack)</a:t>
                      </a:r>
                    </a:p>
                  </a:txBody>
                  <a:tcPr marL="73152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 i="0">
                          <a:solidFill>
                            <a:srgbClr val="222222"/>
                          </a:solidFill>
                          <a:latin typeface="Calibri"/>
                        </a:rPr>
                        <a:t>Only the advantage estimator differs</a:t>
                      </a:r>
                    </a:p>
                  </a:txBody>
                  <a:tcPr marL="73152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 i="0">
                          <a:solidFill>
                            <a:srgbClr val="222222"/>
                          </a:solidFill>
                          <a:latin typeface="Calibri"/>
                        </a:rPr>
                        <a:t>Identical model / data / stack</a:t>
                      </a:r>
                    </a:p>
                  </a:txBody>
                  <a:tcPr marL="73152" marR="54864" marT="9144" marB="9144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222222"/>
                          </a:solidFill>
                          <a:latin typeface="Calibri"/>
                        </a:rPr>
                        <a:t>2 · Zero-Variance Fraction</a:t>
                      </a:r>
                    </a:p>
                  </a:txBody>
                  <a:tcPr marL="73152" marR="54864" marT="9144" marB="914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 i="0">
                          <a:solidFill>
                            <a:srgbClr val="222222"/>
                          </a:solidFill>
                          <a:latin typeface="Calibri"/>
                        </a:rPr>
                        <a:t>Measured signal starvation + confounders</a:t>
                      </a:r>
                    </a:p>
                  </a:txBody>
                  <a:tcPr marL="73152" marR="54864" marT="9144" marB="914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 i="0">
                          <a:solidFill>
                            <a:srgbClr val="222222"/>
                          </a:solidFill>
                          <a:latin typeface="Calibri"/>
                        </a:rPr>
                        <a:t>Per-step ZVF across 9 libraries</a:t>
                      </a:r>
                    </a:p>
                  </a:txBody>
                  <a:tcPr marL="73152" marR="54864" marT="9144" marB="9144" anchor="ctr">
                    <a:solidFill>
                      <a:srgbClr val="F2F5F9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222222"/>
                          </a:solidFill>
                          <a:latin typeface="Calibri"/>
                        </a:rPr>
                        <a:t>3 · Trainability / group size</a:t>
                      </a:r>
                    </a:p>
                  </a:txBody>
                  <a:tcPr marL="73152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 i="0">
                          <a:solidFill>
                            <a:srgbClr val="222222"/>
                          </a:solidFill>
                          <a:latin typeface="Calibri"/>
                        </a:rPr>
                        <a:t>Preference density vs variance knob</a:t>
                      </a:r>
                    </a:p>
                  </a:txBody>
                  <a:tcPr marL="73152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 i="0">
                          <a:solidFill>
                            <a:srgbClr val="222222"/>
                          </a:solidFill>
                          <a:latin typeface="Calibri"/>
                        </a:rPr>
                        <a:t>G ∈ {2,4,8,16} × seeds, held-out</a:t>
                      </a:r>
                    </a:p>
                  </a:txBody>
                  <a:tcPr marL="73152" marR="54864" marT="9144" marB="9144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222222"/>
                          </a:solidFill>
                          <a:latin typeface="Calibri"/>
                        </a:rPr>
                        <a:t>4 · Held-out generalization</a:t>
                      </a:r>
                    </a:p>
                  </a:txBody>
                  <a:tcPr marL="73152" marR="54864" marT="9144" marB="914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 i="0">
                          <a:solidFill>
                            <a:srgbClr val="222222"/>
                          </a:solidFill>
                          <a:latin typeface="Calibri"/>
                        </a:rPr>
                        <a:t>Does GRPO add real capability?</a:t>
                      </a:r>
                    </a:p>
                  </a:txBody>
                  <a:tcPr marL="73152" marR="54864" marT="9144" marB="914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 i="0">
                          <a:solidFill>
                            <a:srgbClr val="222222"/>
                          </a:solidFill>
                          <a:latin typeface="Calibri"/>
                        </a:rPr>
                        <a:t>Dr.GRPO vs GRPO, pre→post, McNemar</a:t>
                      </a:r>
                    </a:p>
                  </a:txBody>
                  <a:tcPr marL="73152" marR="54864" marT="9144" marB="9144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 i="1">
                <a:solidFill>
                  <a:srgbClr val="222222"/>
                </a:solidFill>
                <a:latin typeface="Calibri"/>
              </a:rPr>
              <a:t>Each pillar holds the whole stack fixed and varies exactly one factor — so a difference cannot be blamed on the framework. Scripts: experiments/modal/.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>
                <a:solidFill>
                  <a:srgbClr val="2E74B5"/>
                </a:solidFill>
                <a:latin typeface="Calibri"/>
              </a:rPr>
              <a:t>PILLAR 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1F4E79"/>
                </a:solidFill>
                <a:latin typeface="Calibri"/>
              </a:rPr>
              <a:t>Result 1 — Same-Stack PPO vs GRPO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201168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55664"/>
            <a:ext cx="11094415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Calibri"/>
              </a:rPr>
              <a:t>Tinker RL Lab  —  M.Tech Final Thesis Review  •  Arvind C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55664"/>
            <a:ext cx="7315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943600" cy="4572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600" b="1" i="0">
                <a:solidFill>
                  <a:srgbClr val="1F4E79"/>
                </a:solidFill>
                <a:latin typeface="Calibri"/>
              </a:rPr>
              <a:t>Same stack, only the estimator differs: PPO and GRPO are statistically indistinguishable.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</a:rPr>
              <a:t>Welch t-test p = 0.7605; paired Δ = −0.002, p = 0.374.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600" b="1" i="0">
                <a:solidFill>
                  <a:srgbClr val="1F4E79"/>
                </a:solidFill>
                <a:latin typeface="Calibri"/>
              </a:rPr>
              <a:t>The advantage of “GRPO” in the wild is model-dependent, not universal:</a:t>
            </a:r>
          </a:p>
          <a:p>
            <a:pPr algn="l" lvl="1" indent="-182880" marL="182880">
              <a:spcBef>
                <a:spcPts val="0"/>
              </a:spcBef>
              <a:spcAft>
                <a:spcPts val="400"/>
              </a:spcAft>
              <a:buClr>
                <a:srgbClr val="2E74B5"/>
              </a:buClr>
              <a:buFont typeface="Arial"/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</a:rPr>
              <a:t>Qwen3-8B: GRPO 34.4% vs PPO 22.5% last-10  (GRPO +11.9 pp)</a:t>
            </a:r>
          </a:p>
          <a:p>
            <a:pPr algn="l" lvl="1" indent="-182880" marL="182880">
              <a:spcBef>
                <a:spcPts val="0"/>
              </a:spcBef>
              <a:spcAft>
                <a:spcPts val="400"/>
              </a:spcAft>
              <a:buClr>
                <a:srgbClr val="2E74B5"/>
              </a:buClr>
              <a:buFont typeface="Arial"/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</a:rPr>
              <a:t>Llama-3.1-8B-Instruct: GRPO 84.4% vs PPO 97.5%  (PPO +13.1 pp)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600" b="1" i="0">
                <a:solidFill>
                  <a:srgbClr val="1F4E79"/>
                </a:solidFill>
                <a:latin typeface="Calibri"/>
              </a:rPr>
              <a:t>Takeaway: report the stack, not the label — there is no universally superior algorithm at these scales.</a:t>
            </a:r>
          </a:p>
        </p:txBody>
      </p:sp>
      <p:pic>
        <p:nvPicPr>
          <p:cNvPr id="7" name="Picture 6" descr="ppo_vs_gr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00200"/>
            <a:ext cx="5074920" cy="33947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0" y="5031486"/>
            <a:ext cx="50749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50" b="0" i="1">
                <a:solidFill>
                  <a:srgbClr val="5A5A5A"/>
                </a:solidFill>
                <a:latin typeface="Calibri"/>
              </a:rPr>
              <a:t>PPO vs GRPO across models (paper/figures/v2/)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053328"/>
            <a:ext cx="5943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000" b="0" i="1">
                <a:solidFill>
                  <a:srgbClr val="5A5A5A"/>
                </a:solidFill>
                <a:latin typeface="Calibri"/>
              </a:rPr>
              <a:t>Source: experiment_summary.md; _shared_methods.tex row 20; frontier_synthesis_scaling.tex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>
                <a:solidFill>
                  <a:srgbClr val="2E74B5"/>
                </a:solidFill>
                <a:latin typeface="Calibri"/>
              </a:rPr>
              <a:t>PILLAR 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1F4E79"/>
                </a:solidFill>
                <a:latin typeface="Calibri"/>
              </a:rPr>
              <a:t>Result 2 — Zero-Variance Fraction Diagnostic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201168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55664"/>
            <a:ext cx="11094415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Calibri"/>
              </a:rPr>
              <a:t>Tinker RL Lab  —  M.Tech Final Thesis Review  •  Arvind C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55664"/>
            <a:ext cx="7315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852160" cy="4572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600" b="1" i="0">
                <a:solidFill>
                  <a:srgbClr val="1F4E79"/>
                </a:solidFill>
                <a:latin typeface="Calibri"/>
              </a:rPr>
              <a:t>ZVF = fraction of rollout groups where all G completions get identical reward → zero gradient. Gradient utilization = 1 − ZVF.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</a:rPr>
              <a:t>Vanilla GRPO wastes ~half its rollouts: mean ZVF 0.481.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</a:rPr>
              <a:t>AERO halves it to 0.220 and is the only mitigation that keeps vanilla's last-10 accuracy (0.399 vs 0.379).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</a:rPr>
              <a:t>Aggregated over N=80 (experiment, condition, seed) rows on one managed runtime — identical reward parser, β=0 KL, template.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600" b="1" i="0">
                <a:solidFill>
                  <a:srgbClr val="1F4E79"/>
                </a:solidFill>
                <a:latin typeface="Calibri"/>
              </a:rPr>
              <a:t>ZVF is a descriptive early-warning signal for signal starvation, portable across libraries.</a:t>
            </a:r>
          </a:p>
        </p:txBody>
      </p:sp>
      <p:pic>
        <p:nvPicPr>
          <p:cNvPr id="7" name="Picture 6" descr="zvf_by_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600200"/>
            <a:ext cx="5120640" cy="17448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37960" y="3381586"/>
            <a:ext cx="51206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50" b="0" i="1">
                <a:solidFill>
                  <a:srgbClr val="5A5A5A"/>
                </a:solidFill>
                <a:latin typeface="Calibri"/>
              </a:rPr>
              <a:t>Mean ZVF per library (paper/figures/)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053328"/>
            <a:ext cx="5852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000" b="0" i="1">
                <a:solidFill>
                  <a:srgbClr val="5A5A5A"/>
                </a:solidFill>
                <a:latin typeface="Calibri"/>
              </a:rPr>
              <a:t>Source: paper/sections/zvf.tex, experiments/results/zvf_by_library.tsv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>
                <a:solidFill>
                  <a:srgbClr val="2E74B5"/>
                </a:solidFill>
                <a:latin typeface="Calibri"/>
              </a:rPr>
              <a:t>PILLAR 3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1F4E79"/>
                </a:solidFill>
                <a:latin typeface="Calibri"/>
              </a:rPr>
              <a:t>Result 3 — Group Size &amp; Trainability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201168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55664"/>
            <a:ext cx="11094415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Calibri"/>
              </a:rPr>
              <a:t>Tinker RL Lab  —  M.Tech Final Thesis Review  •  Arvind C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55664"/>
            <a:ext cx="7315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91640"/>
          <a:ext cx="3383280" cy="228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14984"/>
                <a:gridCol w="1184148"/>
                <a:gridCol w="1184148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73152" marR="54864" marT="9144" marB="9144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Peak</a:t>
                      </a:r>
                    </a:p>
                  </a:txBody>
                  <a:tcPr marL="73152" marR="54864" marT="9144" marB="9144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Last-10</a:t>
                      </a:r>
                    </a:p>
                  </a:txBody>
                  <a:tcPr marL="73152" marR="54864" marT="9144" marB="9144" anchor="ctr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50.0%</a:t>
                      </a:r>
                    </a:p>
                  </a:txBody>
                  <a:tcPr marL="73152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37.5%</a:t>
                      </a:r>
                    </a:p>
                  </a:txBody>
                  <a:tcPr marL="73152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54864" marT="9144" marB="914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75.0%</a:t>
                      </a:r>
                    </a:p>
                  </a:txBody>
                  <a:tcPr marL="73152" marR="54864" marT="9144" marB="914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52.1%</a:t>
                      </a:r>
                    </a:p>
                  </a:txBody>
                  <a:tcPr marL="73152" marR="54864" marT="9144" marB="9144" anchor="ctr"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84.4%</a:t>
                      </a:r>
                    </a:p>
                  </a:txBody>
                  <a:tcPr marL="73152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73152" marR="54864" marT="9144" marB="914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71.9%</a:t>
                      </a:r>
                    </a:p>
                  </a:txBody>
                  <a:tcPr marL="73152" marR="54864" marT="9144" marB="914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38.0%</a:t>
                      </a:r>
                    </a:p>
                  </a:txBody>
                  <a:tcPr marL="73152" marR="54864" marT="9144" marB="9144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60520" y="1600200"/>
            <a:ext cx="7498079" cy="2926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500" b="1" i="0">
                <a:solidFill>
                  <a:srgbClr val="1F4E79"/>
                </a:solidFill>
                <a:latin typeface="Calibri"/>
              </a:rPr>
              <a:t>Trainability is non-monotone in G — intermediate sizes beat the smallest and largest tested; no universal optimum.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</a:rPr>
              <a:t>Effective signal-to-noise rises only sublinearly: ~52% of the √G ideal.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</a:rPr>
              <a:t>On the near-ceiling task, held-out accuracy is flat G=2→G=16 (retention ratio ≈ 1.00) — a saturated-regime null, not equivalence on hard tasks.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500" b="1" i="0">
                <a:solidFill>
                  <a:srgbClr val="1F4E79"/>
                </a:solidFill>
                <a:latin typeface="Calibri"/>
              </a:rPr>
              <a:t>Framing: G is a preference-density dial (an implicit all-pairs / DPO-like contrast), not merely a variance knob.</a:t>
            </a:r>
          </a:p>
        </p:txBody>
      </p:sp>
      <p:pic>
        <p:nvPicPr>
          <p:cNvPr id="8" name="Picture 7" descr="group_size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2497" y="4160520"/>
            <a:ext cx="2399845" cy="14904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06240" y="5687568"/>
            <a:ext cx="74523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50" b="0" i="1">
                <a:solidFill>
                  <a:srgbClr val="5A5A5A"/>
                </a:solidFill>
                <a:latin typeface="Calibri"/>
              </a:rPr>
              <a:t>Group-size ablation (paper/figures/v2/)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97680"/>
            <a:ext cx="338328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 i="1">
                <a:solidFill>
                  <a:srgbClr val="5A5A5A"/>
                </a:solidFill>
                <a:latin typeface="Calibri"/>
              </a:rPr>
              <a:t>Table: REPRODUCE.md §4.1 (paper Table 2, group-size block).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053328"/>
            <a:ext cx="1109441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000" b="0" i="1">
                <a:solidFill>
                  <a:srgbClr val="5A5A5A"/>
                </a:solidFill>
                <a:latin typeface="Calibri"/>
              </a:rPr>
              <a:t>Source: REPRODUCE.md §4.1; paper/sections/p3_abstract.tex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>
                <a:solidFill>
                  <a:srgbClr val="2E74B5"/>
                </a:solidFill>
                <a:latin typeface="Calibri"/>
              </a:rPr>
              <a:t>PILLAR 4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1F4E79"/>
                </a:solidFill>
                <a:latin typeface="Calibri"/>
              </a:rPr>
              <a:t>Result 4 — Length Bias &amp; Held-Out Generalization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201168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55664"/>
            <a:ext cx="11094415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Calibri"/>
              </a:rPr>
              <a:t>Tinker RL Lab  —  M.Tech Final Thesis Review  •  Arvind C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55664"/>
            <a:ext cx="7315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943600" cy="4572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550" b="1" i="0">
                <a:solidFill>
                  <a:srgbClr val="1F4E79"/>
                </a:solidFill>
                <a:latin typeface="Calibri"/>
              </a:rPr>
              <a:t>Length bias (verbosity trap): 4 of 11 GRPO runs peak before 65% of training then decay — optimizing length, not correctness.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550" b="0" i="0">
                <a:solidFill>
                  <a:srgbClr val="222222"/>
                </a:solidFill>
                <a:latin typeface="Calibri"/>
              </a:rPr>
              <a:t>Dr.GRPO is the only algorithm whose length keeps a negative slope (diff −0.0028, 95% CI [−0.0045, −0.0014]).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550" b="1" i="0">
                <a:solidFill>
                  <a:srgbClr val="1F4E79"/>
                </a:solidFill>
                <a:latin typeface="Calibri"/>
              </a:rPr>
              <a:t>Held-out GSM8K (Qwen3-8B, 5 seeds × 200 test items, greedy):</a:t>
            </a:r>
          </a:p>
          <a:p>
            <a:pPr algn="l" lvl="1" indent="-182880" marL="182880">
              <a:spcBef>
                <a:spcPts val="0"/>
              </a:spcBef>
              <a:spcAft>
                <a:spcPts val="400"/>
              </a:spcAft>
              <a:buClr>
                <a:srgbClr val="2E74B5"/>
              </a:buClr>
              <a:buFont typeface="Arial"/>
              <a:buChar char="•"/>
            </a:pPr>
            <a:r>
              <a:rPr sz="1350" b="0" i="0">
                <a:solidFill>
                  <a:srgbClr val="222222"/>
                </a:solidFill>
                <a:latin typeface="Calibri"/>
              </a:rPr>
              <a:t>GRPO 83.3% (SD 2.2%) vs base 82.0% — only +1.3 pp</a:t>
            </a:r>
          </a:p>
          <a:p>
            <a:pPr algn="l" lvl="1" indent="-182880" marL="182880">
              <a:spcBef>
                <a:spcPts val="0"/>
              </a:spcBef>
              <a:spcAft>
                <a:spcPts val="400"/>
              </a:spcAft>
              <a:buClr>
                <a:srgbClr val="2E74B5"/>
              </a:buClr>
              <a:buFont typeface="Arial"/>
              <a:buChar char="•"/>
            </a:pPr>
            <a:r>
              <a:rPr sz="1350" b="0" i="0">
                <a:solidFill>
                  <a:srgbClr val="222222"/>
                </a:solidFill>
                <a:latin typeface="Calibri"/>
              </a:rPr>
              <a:t>t = 1.32, p = 0.26 → not significant; capability is pre-existing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550" b="1" i="0">
                <a:solidFill>
                  <a:srgbClr val="1F4E79"/>
                </a:solidFill>
                <a:latin typeface="Calibri"/>
              </a:rPr>
              <a:t>Honest negative: GRPO surfaces capability more than it creates it.</a:t>
            </a:r>
          </a:p>
        </p:txBody>
      </p:sp>
      <p:pic>
        <p:nvPicPr>
          <p:cNvPr id="7" name="Picture 6" descr="length_vs_re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00200"/>
            <a:ext cx="5074920" cy="235241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0" y="3989193"/>
            <a:ext cx="50749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50" b="0" i="1">
                <a:solidFill>
                  <a:srgbClr val="5A5A5A"/>
                </a:solidFill>
                <a:latin typeface="Calibri"/>
              </a:rPr>
              <a:t>Length vs reward coupling (paper/figures/)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053328"/>
            <a:ext cx="5943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000" b="0" i="1">
                <a:solidFill>
                  <a:srgbClr val="5A5A5A"/>
                </a:solidFill>
                <a:latin typeface="Calibri"/>
              </a:rPr>
              <a:t>Source: reports/final/ held-out eval (grpo_agentic_llm_paper.tex); length_bias_iter48.tex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>
                <a:solidFill>
                  <a:srgbClr val="2E74B5"/>
                </a:solidFill>
                <a:latin typeface="Calibri"/>
              </a:rPr>
              <a:t>PILLAR / PAPER P1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1F4E79"/>
                </a:solidFill>
                <a:latin typeface="Calibri"/>
              </a:rPr>
              <a:t>Result 5 — GRPO Scaling Behavior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201168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55664"/>
            <a:ext cx="11094415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Calibri"/>
              </a:rPr>
              <a:t>Tinker RL Lab  —  M.Tech Final Thesis Review  •  Arvind C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55664"/>
            <a:ext cx="7315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943600" cy="4572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500" b="1" i="0">
                <a:solidFill>
                  <a:srgbClr val="1F4E79"/>
                </a:solidFill>
                <a:latin typeface="Calibri"/>
              </a:rPr>
              <a:t>Studied across ~2.4 orders of magnitude (0.6B → ~671B) over 70+ runs, 7 libraries, 5 model families.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</a:rPr>
              <a:t>Central result is a conservative negative: no reliable positive cross-scale slope in mean GRPO reward — flat within (wide) uncertainty.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</a:rPr>
              <a:t>A clean three-phase saturation law is falsified: only 2 of 12 anchors match; no single saturation exponent is identifiable.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</a:rPr>
              <a:t>Nemotron-120B is a distinct collapse phase (zero-reward step fraction 0.55 vs ≤ 0.067 elsewhere), not a point on a trend.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500" b="1" i="0">
                <a:solidFill>
                  <a:srgbClr val="1F4E79"/>
                </a:solidFill>
                <a:latin typeface="Calibri"/>
              </a:rPr>
              <a:t>Categorical capability structure carries more signal than log₁₀N — a local, stack-conditioned taxonomy, not a Chinchilla power law.</a:t>
            </a:r>
          </a:p>
        </p:txBody>
      </p:sp>
      <p:pic>
        <p:nvPicPr>
          <p:cNvPr id="7" name="Picture 6" descr="scaling_law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00200"/>
            <a:ext cx="5074920" cy="362494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0" y="5261718"/>
            <a:ext cx="50749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50" b="0" i="1">
                <a:solidFill>
                  <a:srgbClr val="5A5A5A"/>
                </a:solidFill>
                <a:latin typeface="Calibri"/>
              </a:rPr>
              <a:t>Cross-scale GRPO reward fit (paper/figures/)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053328"/>
            <a:ext cx="5943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000" b="0" i="1">
                <a:solidFill>
                  <a:srgbClr val="5A5A5A"/>
                </a:solidFill>
                <a:latin typeface="Calibri"/>
              </a:rPr>
              <a:t>Source: paper/sections/p1_abstract.tex; experiment_summary.md size ladder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>
                <a:solidFill>
                  <a:srgbClr val="2E74B5"/>
                </a:solidFill>
                <a:latin typeface="Calibri"/>
              </a:rPr>
              <a:t>SEMESTER 4 PAPER SERIES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1F4E79"/>
                </a:solidFill>
                <a:latin typeface="Calibri"/>
              </a:rPr>
              <a:t>P1–P8 Contribution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201168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55664"/>
            <a:ext cx="11094415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Calibri"/>
              </a:rPr>
              <a:t>Tinker RL Lab  —  M.Tech Final Thesis Review  •  Arvind C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55664"/>
            <a:ext cx="7315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94414" cy="44028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76609"/>
                <a:gridCol w="10317805"/>
              </a:tblGrid>
              <a:tr h="489204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54864" marT="9144" marB="9144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Title (abbreviated)</a:t>
                      </a:r>
                    </a:p>
                  </a:txBody>
                  <a:tcPr marL="73152" marR="54864" marT="9144" marB="9144" anchor="ctr">
                    <a:solidFill>
                      <a:srgbClr val="1F4E79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P1</a:t>
                      </a:r>
                    </a:p>
                  </a:txBody>
                  <a:tcPr marL="73152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Scaling Laws for GRPO Post-Training: A Cross-Library, Cross-Scale Study</a:t>
                      </a:r>
                    </a:p>
                  </a:txBody>
                  <a:tcPr marL="73152" marR="54864" marT="9144" marB="9144" anchor="ctr"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P2</a:t>
                      </a:r>
                    </a:p>
                  </a:txBody>
                  <a:tcPr marL="73152" marR="54864" marT="9144" marB="914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The Zero-Variance Fraction: A Descriptive Diagnostic for Signal Starvation</a:t>
                      </a:r>
                    </a:p>
                  </a:txBody>
                  <a:tcPr marL="73152" marR="54864" marT="9144" marB="9144" anchor="ctr">
                    <a:solidFill>
                      <a:srgbClr val="F2F5F9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P3</a:t>
                      </a:r>
                    </a:p>
                  </a:txBody>
                  <a:tcPr marL="73152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Group Size in GRPO: Contrast Density and the Bridge to DPO</a:t>
                      </a:r>
                    </a:p>
                  </a:txBody>
                  <a:tcPr marL="73152" marR="54864" marT="9144" marB="9144" anchor="ctr"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P4</a:t>
                      </a:r>
                    </a:p>
                  </a:txBody>
                  <a:tcPr marL="73152" marR="54864" marT="9144" marB="914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Length Bias and Held-Out Generalization in GRPO and Dr. GRPO</a:t>
                      </a:r>
                    </a:p>
                  </a:txBody>
                  <a:tcPr marL="73152" marR="54864" marT="9144" marB="9144" anchor="ctr">
                    <a:solidFill>
                      <a:srgbClr val="F2F5F9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P5</a:t>
                      </a:r>
                    </a:p>
                  </a:txBody>
                  <a:tcPr marL="73152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Report the Stack, Not the Label: RL-for-LLM Results Are Stack-Conditioned</a:t>
                      </a:r>
                    </a:p>
                  </a:txBody>
                  <a:tcPr marL="73152" marR="54864" marT="9144" marB="9144" anchor="ctr"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P6</a:t>
                      </a:r>
                    </a:p>
                  </a:txBody>
                  <a:tcPr marL="73152" marR="54864" marT="9144" marB="914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GRPO-Registry: A Machine-Readable Catalog of Group-Relative RL Stacks</a:t>
                      </a:r>
                    </a:p>
                  </a:txBody>
                  <a:tcPr marL="73152" marR="54864" marT="9144" marB="9144" anchor="ctr">
                    <a:solidFill>
                      <a:srgbClr val="F2F5F9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P7</a:t>
                      </a:r>
                    </a:p>
                  </a:txBody>
                  <a:tcPr marL="73152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From Diagnostic to Controller: Adaptive Group-Size Intervention</a:t>
                      </a:r>
                    </a:p>
                  </a:txBody>
                  <a:tcPr marL="73152" marR="54864" marT="9144" marB="9144" anchor="ctr"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P8</a:t>
                      </a:r>
                    </a:p>
                  </a:txBody>
                  <a:tcPr marL="73152" marR="54864" marT="9144" marB="914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LLM vs. XGBoost in Credit-Card Fraud: Sensor and Scribe, Not Scorer</a:t>
                      </a:r>
                    </a:p>
                  </a:txBody>
                  <a:tcPr marL="73152" marR="54864" marT="9144" marB="9144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250" b="0" i="1">
                <a:solidFill>
                  <a:srgbClr val="5A5A5A"/>
                </a:solidFill>
                <a:latin typeface="Calibri"/>
              </a:rPr>
              <a:t>Eight standalone papers, freshly compiled from canonical LaTeX sources. Map: sem 4 work/EXPERIMENTS.md (paper → source → evidence).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>
                <a:solidFill>
                  <a:srgbClr val="2E74B5"/>
                </a:solidFill>
                <a:latin typeface="Calibri"/>
              </a:rPr>
              <a:t>PAPER P8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1F4E79"/>
                </a:solidFill>
                <a:latin typeface="Calibri"/>
              </a:rPr>
              <a:t>Applied Study — LLM vs XGBoost Fraud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201168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55664"/>
            <a:ext cx="11094415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Calibri"/>
              </a:rPr>
              <a:t>Tinker RL Lab  —  M.Tech Final Thesis Review  •  Arvind C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55664"/>
            <a:ext cx="7315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5A5A5A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943600" cy="4572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550" b="1" i="0">
                <a:solidFill>
                  <a:srgbClr val="1F4E79"/>
                </a:solidFill>
                <a:latin typeface="Calibri"/>
              </a:rPr>
              <a:t>Head-to-head on a synthetic card-fraud set (50,000 transactions, ~1.4% fraud).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550" b="0" i="0">
                <a:solidFill>
                  <a:srgbClr val="222222"/>
                </a:solidFill>
                <a:latin typeface="Calibri"/>
              </a:rPr>
              <a:t>XGBoost: test AUC 0.7955, F1 0.356, precision 0.723, recall 0.236 — trains in 0.5 s.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550" b="0" i="0">
                <a:solidFill>
                  <a:srgbClr val="222222"/>
                </a:solidFill>
                <a:latin typeface="Calibri"/>
              </a:rPr>
              <a:t>Qwen3.5-4B SFT scorer: accuracy 0.792 but AUC 0.483 — chance-level ranking. LLM loses the real-time scorer seat.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550" b="1" i="0">
                <a:solidFill>
                  <a:srgbClr val="1F4E79"/>
                </a:solidFill>
                <a:latin typeface="Calibri"/>
              </a:rPr>
              <a:t>But “LLM vs XGBoost” is the wrong question. The LLM is a sensor (vision/doc evidence), scribe (SAR / adverse-action narration), and cold-start triage — ~85× cheaper than a human analyst.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550" b="1" i="0">
                <a:solidFill>
                  <a:srgbClr val="1F4E79"/>
                </a:solidFill>
                <a:latin typeface="Calibri"/>
              </a:rPr>
              <a:t>Hybrid: LLM = sensor + scribe, XGBoost = scorer.</a:t>
            </a:r>
          </a:p>
        </p:txBody>
      </p:sp>
      <p:pic>
        <p:nvPicPr>
          <p:cNvPr id="7" name="Picture 6" descr="p8_cost_per_cau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00200"/>
            <a:ext cx="5074920" cy="15224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0" y="3159252"/>
            <a:ext cx="50749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50" b="0" i="1">
                <a:solidFill>
                  <a:srgbClr val="5A5A5A"/>
                </a:solidFill>
                <a:latin typeface="Calibri"/>
              </a:rPr>
              <a:t>Cost per fraud caught (paper/figures/)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053328"/>
            <a:ext cx="5943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000" b="0" i="1">
                <a:solidFill>
                  <a:srgbClr val="5A5A5A"/>
                </a:solidFill>
                <a:latin typeface="Calibri"/>
              </a:rPr>
              <a:t>Source: paper/sections/p8_abstract.tex; xgboost_results.json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 i="0">
                <a:solidFill>
                  <a:srgbClr val="1F4E79"/>
                </a:solidFill>
                <a:latin typeface="Calibri"/>
              </a:rPr>
              <a:t>Reproducibility &amp; Audit Apparatus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201168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55664"/>
            <a:ext cx="11094415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Calibri"/>
              </a:rPr>
              <a:t>Tinker RL Lab  —  M.Tech Final Thesis Review  •  Arvind C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55664"/>
            <a:ext cx="7315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5A5A5A"/>
                </a:solidFill>
                <a:latin typeface="Calibri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440680" cy="4343400"/>
          </a:xfrm>
          <a:prstGeom prst="roundRect">
            <a:avLst>
              <a:gd name="adj" fmla="val 4000"/>
            </a:avLst>
          </a:prstGeom>
          <a:solidFill>
            <a:srgbClr val="F2F5F9"/>
          </a:solidFill>
          <a:ln w="9525">
            <a:solidFill>
              <a:srgbClr val="D0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64208"/>
            <a:ext cx="5074920" cy="4114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500" b="1" i="0">
                <a:solidFill>
                  <a:srgbClr val="1F4E79"/>
                </a:solidFill>
                <a:latin typeface="Calibri"/>
              </a:rPr>
              <a:t>Integrity suite</a:t>
            </a:r>
          </a:p>
          <a:p>
            <a:pPr algn="l" indent="-182880" marL="182880">
              <a:spcBef>
                <a:spcPts val="0"/>
              </a:spcBef>
              <a:spcAft>
                <a:spcPts val="800"/>
              </a:spcAft>
              <a:buClr>
                <a:srgbClr val="2E74B5"/>
              </a:buClr>
              <a:buFont typeface="Arial"/>
              <a:buChar char="•"/>
            </a:pPr>
            <a:r>
              <a:rPr sz="1350" b="0" i="0">
                <a:solidFill>
                  <a:srgbClr val="222222"/>
                </a:solidFill>
                <a:latin typeface="Calibri"/>
              </a:rPr>
              <a:t>run_all_audits.py → 13-audit integrity suite</a:t>
            </a:r>
          </a:p>
          <a:p>
            <a:pPr algn="l" indent="-182880" marL="182880">
              <a:spcBef>
                <a:spcPts val="0"/>
              </a:spcBef>
              <a:spcAft>
                <a:spcPts val="800"/>
              </a:spcAft>
              <a:buClr>
                <a:srgbClr val="2E74B5"/>
              </a:buClr>
              <a:buFont typeface="Arial"/>
              <a:buChar char="•"/>
            </a:pPr>
            <a:r>
              <a:rPr sz="1350" b="0" i="0">
                <a:solidFill>
                  <a:srgbClr val="222222"/>
                </a:solidFill>
                <a:latin typeface="Calibri"/>
              </a:rPr>
              <a:t>17 standalone *_audit.py checks; each prints METRIC …=N</a:t>
            </a:r>
          </a:p>
          <a:p>
            <a:pPr algn="l" indent="-182880" marL="182880">
              <a:spcBef>
                <a:spcPts val="0"/>
              </a:spcBef>
              <a:spcAft>
                <a:spcPts val="800"/>
              </a:spcAft>
              <a:buClr>
                <a:srgbClr val="2E74B5"/>
              </a:buClr>
              <a:buFont typeface="Arial"/>
              <a:buChar char="•"/>
            </a:pPr>
            <a:r>
              <a:rPr sz="1350" b="0" i="0">
                <a:solidFill>
                  <a:srgbClr val="222222"/>
                </a:solidFill>
                <a:latin typeface="Calibri"/>
              </a:rPr>
              <a:t>Covers paper / claim / abstract-scope / held-out / anonymization / submission / blind-review</a:t>
            </a:r>
          </a:p>
          <a:p>
            <a:pPr algn="l" indent="-182880" marL="182880">
              <a:spcBef>
                <a:spcPts val="0"/>
              </a:spcBef>
              <a:spcAft>
                <a:spcPts val="800"/>
              </a:spcAft>
              <a:buClr>
                <a:srgbClr val="2E74B5"/>
              </a:buClr>
              <a:buFont typeface="Arial"/>
              <a:buChar char="•"/>
            </a:pPr>
            <a:r>
              <a:rPr sz="1350" b="0" i="0">
                <a:solidFill>
                  <a:srgbClr val="222222"/>
                </a:solidFill>
                <a:latin typeface="Calibri"/>
              </a:rPr>
              <a:t>Multi-seed protocol: canonical 10-seed 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394960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64208"/>
            <a:ext cx="5029200" cy="4114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500" b="1" i="0">
                <a:solidFill>
                  <a:srgbClr val="1F4E79"/>
                </a:solidFill>
                <a:latin typeface="Calibri"/>
              </a:rPr>
              <a:t>One-command reproduction</a:t>
            </a:r>
          </a:p>
          <a:p>
            <a:pPr algn="l" indent="-182880" marL="182880">
              <a:spcBef>
                <a:spcPts val="0"/>
              </a:spcBef>
              <a:spcAft>
                <a:spcPts val="800"/>
              </a:spcAft>
              <a:buClr>
                <a:srgbClr val="2E74B5"/>
              </a:buClr>
              <a:buFont typeface="Arial"/>
              <a:buChar char="•"/>
            </a:pPr>
            <a:r>
              <a:rPr sz="1350" b="0" i="0">
                <a:solidFill>
                  <a:srgbClr val="222222"/>
                </a:solidFill>
                <a:latin typeface="Calibri"/>
              </a:rPr>
              <a:t>Pinned Dockerfile (~6 min cold build)</a:t>
            </a:r>
          </a:p>
          <a:p>
            <a:pPr algn="l" indent="-182880" marL="182880">
              <a:spcBef>
                <a:spcPts val="0"/>
              </a:spcBef>
              <a:spcAft>
                <a:spcPts val="800"/>
              </a:spcAft>
              <a:buClr>
                <a:srgbClr val="2E74B5"/>
              </a:buClr>
              <a:buFont typeface="Arial"/>
              <a:buChar char="•"/>
            </a:pPr>
            <a:r>
              <a:rPr sz="1350" b="0" i="0">
                <a:solidFill>
                  <a:srgbClr val="222222"/>
                </a:solidFill>
                <a:latin typeface="Calibri"/>
              </a:rPr>
              <a:t>scripts/smoke_test.sh — &lt;10 min, CPU-only</a:t>
            </a:r>
          </a:p>
          <a:p>
            <a:pPr algn="l" indent="-182880" marL="182880">
              <a:spcBef>
                <a:spcPts val="0"/>
              </a:spcBef>
              <a:spcAft>
                <a:spcPts val="800"/>
              </a:spcAft>
              <a:buClr>
                <a:srgbClr val="2E74B5"/>
              </a:buClr>
              <a:buFont typeface="Arial"/>
              <a:buChar char="•"/>
            </a:pPr>
            <a:r>
              <a:rPr sz="1350" b="0" i="0">
                <a:solidFill>
                  <a:srgbClr val="222222"/>
                </a:solidFill>
                <a:latin typeface="Calibri"/>
              </a:rPr>
              <a:t>Headline: GRPO Qwen3-8B GSM8K, peak 62.5%, last-10 34.4% (±5 pts tolerance)</a:t>
            </a:r>
          </a:p>
          <a:p>
            <a:pPr algn="l" indent="-182880" marL="182880">
              <a:spcBef>
                <a:spcPts val="0"/>
              </a:spcBef>
              <a:spcAft>
                <a:spcPts val="800"/>
              </a:spcAft>
              <a:buClr>
                <a:srgbClr val="2E74B5"/>
              </a:buClr>
              <a:buFont typeface="Arial"/>
              <a:buChar char="•"/>
            </a:pPr>
            <a:r>
              <a:rPr sz="1350" b="0" i="0">
                <a:solidFill>
                  <a:srgbClr val="222222"/>
                </a:solidFill>
                <a:latin typeface="Calibri"/>
              </a:rPr>
              <a:t>Data pinned by HF revision (GSM8K 7,473 train / 1,319 test)</a:t>
            </a:r>
          </a:p>
          <a:p>
            <a:pPr algn="l" indent="-182880" marL="182880">
              <a:spcBef>
                <a:spcPts val="0"/>
              </a:spcBef>
              <a:spcAft>
                <a:spcPts val="800"/>
              </a:spcAft>
              <a:buClr>
                <a:srgbClr val="2E74B5"/>
              </a:buClr>
              <a:buFont typeface="Arial"/>
              <a:buChar char="•"/>
            </a:pPr>
            <a:r>
              <a:rPr sz="1350" b="0" i="0">
                <a:solidFill>
                  <a:srgbClr val="222222"/>
                </a:solidFill>
                <a:latin typeface="Calibri"/>
              </a:rPr>
              <a:t>Full paper reproduction budget: ~446 GPU-h; headline ~5 GPU-h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1">
                <a:solidFill>
                  <a:srgbClr val="5A5A5A"/>
                </a:solidFill>
                <a:latin typeface="Calibri"/>
              </a:rPr>
              <a:t>Sources: run_all_audits.py; REPRODUCE.md; Dockerfile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 i="0">
                <a:solidFill>
                  <a:srgbClr val="1F4E79"/>
                </a:solidFill>
                <a:latin typeface="Calibri"/>
              </a:rPr>
              <a:t>Publications &amp; Submissions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201168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55664"/>
            <a:ext cx="11094415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Calibri"/>
              </a:rPr>
              <a:t>Tinker RL Lab  —  M.Tech Final Thesis Review  •  Arvind C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55664"/>
            <a:ext cx="7315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5A5A5A"/>
                </a:solidFill>
                <a:latin typeface="Calibri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440680" cy="4343400"/>
          </a:xfrm>
          <a:prstGeom prst="roundRect">
            <a:avLst>
              <a:gd name="adj" fmla="val 4000"/>
            </a:avLst>
          </a:prstGeom>
          <a:solidFill>
            <a:srgbClr val="F2F5F9"/>
          </a:solidFill>
          <a:ln w="9525">
            <a:solidFill>
              <a:srgbClr val="D0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64208"/>
            <a:ext cx="5074920" cy="4114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500" b="1" i="0">
                <a:solidFill>
                  <a:srgbClr val="1F4E79"/>
                </a:solidFill>
                <a:latin typeface="Calibri"/>
              </a:rPr>
              <a:t>Semester 3 — Group 6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350" b="0" i="0">
                <a:solidFill>
                  <a:srgbClr val="222222"/>
                </a:solidFill>
                <a:latin typeface="Calibri"/>
              </a:rPr>
              <a:t>NeurIPS 2026 main-track submission (anonymized blind-review package)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350" b="0" i="0">
                <a:solidFill>
                  <a:srgbClr val="222222"/>
                </a:solidFill>
                <a:latin typeface="Calibri"/>
              </a:rPr>
              <a:t>Blind-review manifest dated April 19, 2026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350" b="0" i="0">
                <a:solidFill>
                  <a:srgbClr val="222222"/>
                </a:solidFill>
                <a:latin typeface="Calibri"/>
              </a:rPr>
              <a:t>Frozen at tag capstone-final-2026-04-25 (commit 21a99ef7)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350" b="0" i="0">
                <a:solidFill>
                  <a:srgbClr val="222222"/>
                </a:solidFill>
                <a:latin typeface="Calibri"/>
              </a:rPr>
              <a:t>Capstone final report + group benchmark paper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394960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64208"/>
            <a:ext cx="5029200" cy="4114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500" b="1" i="0">
                <a:solidFill>
                  <a:srgbClr val="1F4E79"/>
                </a:solidFill>
                <a:latin typeface="Calibri"/>
              </a:rPr>
              <a:t>Semester 4 — solo continuation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350" b="0" i="0">
                <a:solidFill>
                  <a:srgbClr val="222222"/>
                </a:solidFill>
                <a:latin typeface="Calibri"/>
              </a:rPr>
              <a:t>NeurIPS 2026 workshop submission (16-page anonymous artifact)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350" b="0" i="0">
                <a:solidFill>
                  <a:srgbClr val="222222"/>
                </a:solidFill>
                <a:latin typeface="Calibri"/>
              </a:rPr>
              <a:t>“RL-Finetuning Bench: An Exploratory Workshop Artifact for GRPO-Style Post-Training Across Libraries, Models, and Backends”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350" b="0" i="0">
                <a:solidFill>
                  <a:srgbClr val="222222"/>
                </a:solidFill>
                <a:latin typeface="Calibri"/>
              </a:rPr>
              <a:t>First committed June 21, 2026 (commit b0ac85bf)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350" b="0" i="0">
                <a:solidFill>
                  <a:srgbClr val="222222"/>
                </a:solidFill>
                <a:latin typeface="Calibri"/>
              </a:rPr>
              <a:t>Eight standalone papers P1–P8 + evidence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1">
                <a:solidFill>
                  <a:srgbClr val="5A5A5A"/>
                </a:solidFill>
                <a:latin typeface="Calibri"/>
              </a:rPr>
              <a:t>Sources: PROJECT_HISTORY.md; sem 4 work/submissions/neurips-workshop/README.md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 i="0">
                <a:solidFill>
                  <a:srgbClr val="1F4E79"/>
                </a:solidFill>
                <a:latin typeface="Calibri"/>
              </a:rPr>
              <a:t>Demo Pointer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201168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55664"/>
            <a:ext cx="11094415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Calibri"/>
              </a:rPr>
              <a:t>Tinker RL Lab  —  M.Tech Final Thesis Review  •  Arvind C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55664"/>
            <a:ext cx="7315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5A5A5A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94415" cy="4114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700" b="1" i="0">
                <a:solidFill>
                  <a:srgbClr val="1F4E79"/>
                </a:solidFill>
                <a:latin typeface="Calibri"/>
              </a:rPr>
              <a:t>Executed demo notebook: demo_recording/thesis_demo.ipynb — 11 cells, all real outputs (results tables, ZVF, group-size, P8 metrics); HTML export + recorded walkthrough thesis_demo.mp4.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700" b="1" i="0">
                <a:solidFill>
                  <a:srgbClr val="1F4E79"/>
                </a:solidFill>
                <a:latin typeface="Calibri"/>
              </a:rPr>
              <a:t>Live HuggingFace Space (pre-computed, CPU-only): arvindcr4-tinkerrl-bench-demo.hf.space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</a:rPr>
              <a:t>Four tabs: tool-use comparison · ZVF diagnostic · team artifacts · headline numbers.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700" b="1" i="0">
                <a:solidFill>
                  <a:srgbClr val="1F4E79"/>
                </a:solidFill>
                <a:latin typeface="Calibri"/>
              </a:rPr>
              <a:t>Phase-1 defense demo runbook: submission/demo/demo.sh + reports/esa_phase1/CODE_WALKTHROUGH.md (DEMO STATUS: PASS).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</a:rPr>
              <a:t>Headline shown live: tool-call JSON validity 0% → 92% after SFT+GRPO.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1">
                <a:solidFill>
                  <a:srgbClr val="5A5A5A"/>
                </a:solidFill>
                <a:latin typeface="Calibri"/>
              </a:rPr>
              <a:t>Sources: demo_recording/thesis_demo.ipynb; reports/esa_phase1/CODE_WALKTHROUGH.md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 i="0">
                <a:solidFill>
                  <a:srgbClr val="1F4E79"/>
                </a:solidFill>
                <a:latin typeface="Calibri"/>
              </a:rPr>
              <a:t>Semester 3 vs Semester 4 Ownership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201168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55664"/>
            <a:ext cx="11094415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Calibri"/>
              </a:rPr>
              <a:t>Tinker RL Lab  —  M.Tech Final Thesis Review  •  Arvind C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55664"/>
            <a:ext cx="7315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5A5A5A"/>
                </a:solidFill>
                <a:latin typeface="Calibri"/>
              </a:rPr>
              <a:t>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94414" cy="4343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75106"/>
                <a:gridCol w="4659654"/>
                <a:gridCol w="4659654"/>
              </a:tblGrid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54864" marT="9144" marB="9144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Semester 3 — Group 6</a:t>
                      </a:r>
                    </a:p>
                  </a:txBody>
                  <a:tcPr marL="73152" marR="54864" marT="9144" marB="9144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Semester 4 — Solo</a:t>
                      </a:r>
                    </a:p>
                  </a:txBody>
                  <a:tcPr marL="73152" marR="54864" marT="9144" marB="9144" anchor="ctr">
                    <a:solidFill>
                      <a:srgbClr val="1F4E79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Team</a:t>
                      </a:r>
                    </a:p>
                  </a:txBody>
                  <a:tcPr marL="73152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Six students; guides Paduri &amp; Darapaneni</a:t>
                      </a:r>
                    </a:p>
                  </a:txBody>
                  <a:tcPr marL="73152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Arvind C R; guide Ramesh Prakash Guledgudd</a:t>
                      </a:r>
                    </a:p>
                  </a:txBody>
                  <a:tcPr marL="73152" marR="54864" marT="9144" marB="9144"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Deliverables</a:t>
                      </a:r>
                    </a:p>
                  </a:txBody>
                  <a:tcPr marL="73152" marR="54864" marT="9144" marB="914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Lit foundation, multi-framework env, first experiments, group paper, NeurIPS main-track</a:t>
                      </a:r>
                    </a:p>
                  </a:txBody>
                  <a:tcPr marL="73152" marR="54864" marT="9144" marB="914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P1–P8 papers, NeurIPS workshop, expanded diagnostics &amp; controllers, fraud study</a:t>
                      </a:r>
                    </a:p>
                  </a:txBody>
                  <a:tcPr marL="73152" marR="54864" marT="9144" marB="9144" anchor="ctr">
                    <a:solidFill>
                      <a:srgbClr val="F2F5F9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Boundary</a:t>
                      </a:r>
                    </a:p>
                  </a:txBody>
                  <a:tcPr marL="73152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Frozen: tag capstone-final-2026-04-25 (21a99ef7)</a:t>
                      </a:r>
                    </a:p>
                  </a:txBody>
                  <a:tcPr marL="73152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Starts after boundary; workshop from June 21, 2026</a:t>
                      </a:r>
                    </a:p>
                  </a:txBody>
                  <a:tcPr marL="73152" marR="54864" marT="9144" marB="9144"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marL="73152" marR="54864" marT="9144" marB="914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Immutable historical deliverables</a:t>
                      </a:r>
                    </a:p>
                  </a:txBody>
                  <a:tcPr marL="73152" marR="54864" marT="9144" marB="914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206 recorded analysis iterations; new audits &amp; prototypes</a:t>
                      </a:r>
                    </a:p>
                  </a:txBody>
                  <a:tcPr marL="73152" marR="54864" marT="9144" marB="9144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172200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 i="1">
                <a:solidFill>
                  <a:srgbClr val="5A5A5A"/>
                </a:solidFill>
                <a:latin typeface="Calibri"/>
              </a:rPr>
              <a:t>Shared code stays at repo root; the two semester folders are curated academic views. Source: PROJECT_HISTORY.md; sem 4 work/README.md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 i="0">
                <a:solidFill>
                  <a:srgbClr val="1F4E79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201168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55664"/>
            <a:ext cx="11094415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Calibri"/>
              </a:rPr>
              <a:t>Tinker RL Lab  —  M.Tech Final Thesis Review  •  Arvind C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55664"/>
            <a:ext cx="7315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5A5A5A"/>
                </a:solidFill>
                <a:latin typeface="Calibri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440680" cy="4343400"/>
          </a:xfrm>
          <a:prstGeom prst="roundRect">
            <a:avLst>
              <a:gd name="adj" fmla="val 4000"/>
            </a:avLst>
          </a:prstGeom>
          <a:solidFill>
            <a:srgbClr val="F2F5F9"/>
          </a:solidFill>
          <a:ln w="9525">
            <a:solidFill>
              <a:srgbClr val="D0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64208"/>
            <a:ext cx="5074920" cy="4114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500" b="1" i="0">
                <a:solidFill>
                  <a:srgbClr val="1F4E79"/>
                </a:solidFill>
                <a:latin typeface="Calibri"/>
              </a:rPr>
              <a:t>Limitations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</a:rPr>
              <a:t>Single-seed Tinker runs; no variance/significance on Tinker data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</a:rPr>
              <a:t>Short horizons (30–50 steps) — no asymptotic claims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</a:rPr>
              <a:t>Closed Tinker internals: results measure the platform, not the algorithm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</a:rPr>
              <a:t>Saturated tasks compress variance (G-equivalence is a null, not proof)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</a:rPr>
              <a:t>Exploratory, not pre-registered; narrow benchmark coverage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394960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64208"/>
            <a:ext cx="5029200" cy="4114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500" b="1" i="0">
                <a:solidFill>
                  <a:srgbClr val="1F4E79"/>
                </a:solidFill>
                <a:latin typeface="Calibri"/>
              </a:rPr>
              <a:t>Future work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</a:rPr>
              <a:t>Repeat ZVF / group-size on harder, non-saturating tasks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</a:rPr>
              <a:t>Direct gradient-vector validation of the DPO-like interpretation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</a:rPr>
              <a:t>Full-FT vs LoRA re-runs across every baseline library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</a:rPr>
              <a:t>Exhaustive LR × rank × batch × G sweeps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</a:rPr>
              <a:t>P7 adaptive ZVF controller: from diagnostic to intervention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1">
                <a:solidFill>
                  <a:srgbClr val="5A5A5A"/>
                </a:solidFill>
                <a:latin typeface="Calibri"/>
              </a:rPr>
              <a:t>Source: LIMITATIONS_AND_IMPACT.md §7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 i="0">
                <a:solidFill>
                  <a:srgbClr val="1F4E79"/>
                </a:solidFill>
                <a:latin typeface="Calibri"/>
              </a:rPr>
              <a:t>Conclusions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201168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55664"/>
            <a:ext cx="11094415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Calibri"/>
              </a:rPr>
              <a:t>Tinker RL Lab  —  M.Tech Final Thesis Review  •  Arvind C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55664"/>
            <a:ext cx="7315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5A5A5A"/>
                </a:solidFill>
                <a:latin typeface="Calibr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94415" cy="4572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750" b="1" i="0">
                <a:solidFill>
                  <a:srgbClr val="1F4E79"/>
                </a:solidFill>
                <a:latin typeface="Calibri"/>
              </a:rPr>
              <a:t>A multi-framework GRPO benchmark (6 backends, 44+ curated runs, 70+ across the roster) that runs identical workloads and reports the stack.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750" b="1" i="0">
                <a:solidFill>
                  <a:srgbClr val="1F4E79"/>
                </a:solidFill>
                <a:latin typeface="Calibri"/>
              </a:rPr>
              <a:t>Four de-confound pillars show “GRPO” gains are stack- and model-conditioned: same-stack PPO≡GRPO (p=0.76).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750" b="1" i="0">
                <a:solidFill>
                  <a:srgbClr val="1F4E79"/>
                </a:solidFill>
                <a:latin typeface="Calibri"/>
              </a:rPr>
              <a:t>ZVF (and gradient utilization = 1−ZVF) is a portable diagnostic for signal starvation; group size is a preference-density dial.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750" b="1" i="0">
                <a:solidFill>
                  <a:srgbClr val="1F4E79"/>
                </a:solidFill>
                <a:latin typeface="Calibri"/>
              </a:rPr>
              <a:t>Honest held-out negative: GRPO adds only +1.3 pts on GSM8K (p=0.26) — it surfaces capability more than it creates it.</a:t>
            </a:r>
          </a:p>
          <a:p>
            <a:pPr algn="l" indent="-182880" marL="182880">
              <a:spcBef>
                <a:spcPts val="0"/>
              </a:spcBef>
              <a:spcAft>
                <a:spcPts val="700"/>
              </a:spcAft>
              <a:buClr>
                <a:srgbClr val="2E74B5"/>
              </a:buClr>
              <a:buFont typeface="Arial"/>
              <a:buChar char="•"/>
            </a:pPr>
            <a:r>
              <a:rPr sz="1750" b="1" i="0">
                <a:solidFill>
                  <a:srgbClr val="1F4E79"/>
                </a:solidFill>
                <a:latin typeface="Calibri"/>
              </a:rPr>
              <a:t>Reproducibility-first: 13-audit suite, Docker, REPRODUCE.md, and eight papers P1–P8 + a NeurIPS workshop artifact.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  <a:buNone/>
            </a:pPr>
            <a:r>
              <a:rPr sz="5200" b="1" i="0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 algn="ctr">
              <a:spcBef>
                <a:spcPts val="0"/>
              </a:spcBef>
              <a:spcAft>
                <a:spcPts val="2400"/>
              </a:spcAft>
              <a:buNone/>
            </a:pPr>
            <a:r>
              <a:rPr sz="2400" b="0" i="0">
                <a:solidFill>
                  <a:srgbClr val="CFDEF0"/>
                </a:solidFill>
                <a:latin typeface="Calibri"/>
              </a:rPr>
              <a:t>Questions &amp; Discussion</a:t>
            </a:r>
          </a:p>
          <a:p>
            <a:pPr algn="ctr">
              <a:spcBef>
                <a:spcPts val="0"/>
              </a:spcBef>
              <a:spcAft>
                <a:spcPts val="400"/>
              </a:spcAft>
              <a:buNone/>
            </a:pPr>
            <a:r>
              <a:rPr sz="1500" b="0" i="0">
                <a:solidFill>
                  <a:srgbClr val="FFFFFF"/>
                </a:solidFill>
                <a:latin typeface="Calibri"/>
              </a:rPr>
              <a:t>Arvind C R  ·  SRN &lt;SRN&gt;  ·  M.Tech Data Science &amp; AI, PES University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buNone/>
            </a:pPr>
            <a:r>
              <a:rPr sz="1400" b="0" i="0">
                <a:solidFill>
                  <a:srgbClr val="CFDEF0"/>
                </a:solidFill>
                <a:latin typeface="Calibri"/>
              </a:rPr>
              <a:t>Guide: Ramesh Prakash Guledgudd  ·  github.com/arvindcr4/tinker-rl-lab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